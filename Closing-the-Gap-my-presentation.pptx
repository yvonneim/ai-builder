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9"/>
    <p:sldId id="259" r:id="rId8"/>
    <p:sldId id="260" r:id="rId7"/>
    <p:sldId id="261" r:id="rId6"/>
    <p:sldId id="262" r:id="rId5"/>
    <p:sldId id="263" r:id="rId4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Cover. Welcome the room, say the title once, and tell them what to expect: six slides that all point to one idea, that AI works when it is built around a real person's need. The five colored dots are the five chapters of my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Six slides. First why pilots stall and why it is a fit problem, then what workers say about trust and about human involvement, then the cost of checking AI work and a small study on writing, and last what the research points to: fit, oversight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start with the number that stopped me. 95% of corporate AI pilots stalled before scaling and only 5% reached rapid revenue growth, so about 19 stalled for every one that grew. The MIT authors point to a learning gap in how organizations apply the tools, not model quality, and I checked this through a news report, not the original MIT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5% of the 4,200 workers surveyed had no concerns about AI with no human in the loop, while 61% want human oversight before AI acts. That is 2,562 workers versus 210, which is 12.2 times as many, and only 35% are ready for AI to act more on its own. The survey covered 9 countries in April and May of 2026, and the average worker spends 2 hours a week checking AI-generated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Workers want more human involvement than experts think necessary on 47.5% of tasks, about 401 of 844, and they want AI to automate 46.1%, about 389. The gap is small, so I am saying the two are about equal and not that one wins. The study covered 1,500 workers in 104 occupations, and 41% of Y Combinator company-task pairings land in low-priority or red-light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TeamViewer and Sapio Research asked 4,200 workers in 9 countries in April and May of 2026. 56% often or always verify AI output, which is 2,352 workers, and 51% do not always know when to trust it, which is 2,142 workers. The average worker spends 2 hours a week checking AI-generated work, so the cost of low trust is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Hwang and colleagues interviewed 19 professional writers and surveyed 30 readers. Readers could not tell AI-assisted writing, personalized or not, from writing done alone. It is a small study, so I treat it as a signal and not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the research points to, and it is my reading of the evidence, not a new statistic. Pilots stall on fit, not the model, so build around what people need. Most workers want a human in the loop before AI acts, so keep one. And checking AI work costs about 2 hours a week, so make the output easy to trust. Fit, oversight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Slide-background-3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9525000" cy="894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453547"/>
            <a:ext cx="10566400" cy="359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9525000" cy="894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453547"/>
            <a:ext cx="10566400" cy="359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9525000" cy="894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453547"/>
            <a:ext cx="10566400" cy="359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9525000" cy="894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453547"/>
            <a:ext cx="10566400" cy="359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9525000" cy="894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453547"/>
            <a:ext cx="10566400" cy="359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B3FA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AI BUILDER · FINDINGS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685396"/>
            <a:ext cx="9483725" cy="210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spc="-150" kern="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gap between what AI can do and what people </a:t>
            </a:r>
            <a:r>
              <a:rPr lang="en-US" sz="5200" b="1" i="0" spc="-150" kern="0" dirty="0">
                <a:solidFill>
                  <a:srgbClr val="1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need.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968816"/>
            <a:ext cx="7194550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published research on why AI projects stall and what people need from AI.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222280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Yvonne Martinez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59309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Technical Analyst · October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134600" y="62738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2B7E9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401300" y="62738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3B6FD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668000" y="62738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7A5CC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934700" y="62738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E0685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01400" y="62738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5B3FA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AGENDA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9810750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slides, one idea: build for what people need.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532923"/>
            <a:ext cx="5175250" cy="858044"/>
          </a:xfrm>
          <a:prstGeom prst="roundRect">
            <a:avLst>
              <a:gd name="adj" fmla="val 14431"/>
            </a:avLst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20233" y="273334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5233" y="2711781"/>
            <a:ext cx="333375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5233" y="2980995"/>
            <a:ext cx="3429000" cy="256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 stall on fit, not the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2532923"/>
            <a:ext cx="5175250" cy="858044"/>
          </a:xfrm>
          <a:prstGeom prst="roundRect">
            <a:avLst>
              <a:gd name="adj" fmla="val 14431"/>
            </a:avLst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5033" y="273334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3FA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034" y="2711781"/>
            <a:ext cx="333375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034" y="2980995"/>
            <a:ext cx="3429000" cy="256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want AI with no human in the loop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3575117"/>
            <a:ext cx="5175250" cy="858044"/>
          </a:xfrm>
          <a:prstGeom prst="roundRect">
            <a:avLst>
              <a:gd name="adj" fmla="val 14431"/>
            </a:avLst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20233" y="37755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7E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55233" y="3753975"/>
            <a:ext cx="333375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or automate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5233" y="4023189"/>
            <a:ext cx="3429000" cy="256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split about equally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00775" y="3575117"/>
            <a:ext cx="5175250" cy="858044"/>
          </a:xfrm>
          <a:prstGeom prst="roundRect">
            <a:avLst>
              <a:gd name="adj" fmla="val 14431"/>
            </a:avLst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5033" y="37755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6F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034" y="3753975"/>
            <a:ext cx="333375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034" y="4023189"/>
            <a:ext cx="3429000" cy="256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a week checking AI work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975" y="4617310"/>
            <a:ext cx="5175250" cy="858044"/>
          </a:xfrm>
          <a:prstGeom prst="roundRect">
            <a:avLst>
              <a:gd name="adj" fmla="val 14431"/>
            </a:avLst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0233" y="48177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5C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55233" y="4796168"/>
            <a:ext cx="333375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55233" y="5065382"/>
            <a:ext cx="3429000" cy="256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Readers could not tell the difference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00775" y="4617310"/>
            <a:ext cx="5175250" cy="858044"/>
          </a:xfrm>
          <a:prstGeom prst="roundRect">
            <a:avLst>
              <a:gd name="adj" fmla="val 14431"/>
            </a:avLst>
          </a:prstGeom>
          <a:solidFill>
            <a:srgbClr val="FFFFFF"/>
          </a:solidFill>
          <a:ln w="6350">
            <a:solidFill>
              <a:srgbClr val="E3E8E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5033" y="48177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4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034" y="4796168"/>
            <a:ext cx="333375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034" y="5065382"/>
            <a:ext cx="3429000" cy="256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Fit, oversight and trust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gap · AI Builder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8F4F6"/>
              </a:gs>
            </a:gsLst>
            <a:lin ang="5400000" scaled="0"/>
          </a:gradFill>
          <a:ln/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28725"/>
            <a:ext cx="10467975" cy="952500"/>
          </a:xfrm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1" spc="-50">
                <a:solidFill>
                  <a:srgbClr val="2B4552"/>
                </a:solidFill>
                <a:latin typeface="Arial"/>
              </a:rPr>
              <a:t>95% of AI pilots stall, 19 to 1, and the cause is </a:t>
            </a:r>
            <a:r>
              <a:rPr sz="3200" b="1" spc="-50">
                <a:solidFill>
                  <a:srgbClr val="1D6B7A"/>
                </a:solidFill>
                <a:latin typeface="Arial"/>
              </a:rPr>
              <a:t>fit, not the model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09625" y="809625"/>
            <a:ext cx="108870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50">
                <a:solidFill>
                  <a:srgbClr val="5B3FA6"/>
                </a:solidFill>
                <a:latin typeface="Courier New"/>
              </a:rPr>
              <a:t>// CLOSING THE GAP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809625" y="6238875"/>
            <a:ext cx="90487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5868"/>
                </a:solidFill>
                <a:latin typeface="Arial"/>
              </a:rPr>
              <a:t>Source: MIT, The GenAI Divide: State of AI in Business 2025, as reported by Computing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058400" y="6238875"/>
            <a:ext cx="13239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D5868"/>
                </a:solidFill>
                <a:latin typeface="Arial"/>
              </a:rPr>
              <a:t>3 / 8</a:t>
            </a:r>
          </a:p>
        </p:txBody>
      </p:sp>
      <p:sp>
        <p:nvSpPr>
          <p:cNvPr id="6" name="Bar stalled 95%"/>
          <p:cNvSpPr/>
          <p:nvPr/>
        </p:nvSpPr>
        <p:spPr>
          <a:xfrm>
            <a:off x="809625" y="2714625"/>
            <a:ext cx="10029825" cy="495300"/>
          </a:xfrm>
          <a:prstGeom prst="rect">
            <a:avLst/>
          </a:prstGeom>
          <a:solidFill>
            <a:srgbClr val="E06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r scaled 5%"/>
          <p:cNvSpPr/>
          <p:nvPr/>
        </p:nvSpPr>
        <p:spPr>
          <a:xfrm>
            <a:off x="10839450" y="2714625"/>
            <a:ext cx="533400" cy="495300"/>
          </a:xfrm>
          <a:prstGeom prst="rect">
            <a:avLst/>
          </a:prstGeom>
          <a:solidFill>
            <a:srgbClr val="2B7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625" y="3305175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84A3D"/>
                </a:solidFill>
                <a:latin typeface="Arial"/>
              </a:rPr>
              <a:t>95% stalled before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305175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1D5F6E"/>
                </a:solidFill>
                <a:latin typeface="Arial"/>
              </a:rPr>
              <a:t>5% reached rapid revenue growth</a:t>
            </a:r>
          </a:p>
        </p:txBody>
      </p:sp>
      <p:sp>
        <p:nvSpPr>
          <p:cNvPr id="10" name="Card 1"/>
          <p:cNvSpPr/>
          <p:nvPr/>
        </p:nvSpPr>
        <p:spPr>
          <a:xfrm>
            <a:off x="819150" y="4095750"/>
            <a:ext cx="5172075" cy="142875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4333875"/>
            <a:ext cx="466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100">
                <a:solidFill>
                  <a:srgbClr val="1D5F6E"/>
                </a:solidFill>
                <a:latin typeface="Arial"/>
              </a:rPr>
              <a:t>19 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5000625"/>
            <a:ext cx="4667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D5868"/>
                </a:solidFill>
                <a:latin typeface="Arial"/>
              </a:rPr>
              <a:t>stalled pilots for every one that grew</a:t>
            </a:r>
          </a:p>
        </p:txBody>
      </p:sp>
      <p:sp>
        <p:nvSpPr>
          <p:cNvPr id="13" name="Card 2"/>
          <p:cNvSpPr/>
          <p:nvPr/>
        </p:nvSpPr>
        <p:spPr>
          <a:xfrm>
            <a:off x="6200775" y="4095750"/>
            <a:ext cx="5172075" cy="142875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7475" y="4333875"/>
            <a:ext cx="466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100">
                <a:solidFill>
                  <a:srgbClr val="1D5F6E"/>
                </a:solidFill>
                <a:latin typeface="Arial"/>
              </a:rPr>
              <a:t>Fit, not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5000625"/>
            <a:ext cx="4667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D5868"/>
                </a:solidFill>
                <a:latin typeface="Arial"/>
              </a:rPr>
              <a:t>cause: a learning gap in how tools are applied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9F0FD"/>
              </a:gs>
            </a:gsLst>
            <a:lin ang="5400000" scaled="0"/>
          </a:gradFill>
          <a:ln/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28725"/>
            <a:ext cx="10467975" cy="952500"/>
          </a:xfrm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1" spc="-50">
                <a:solidFill>
                  <a:srgbClr val="2B4552"/>
                </a:solidFill>
                <a:latin typeface="Arial"/>
              </a:rPr>
              <a:t>Only 5% of workers have no concerns about AI </a:t>
            </a:r>
            <a:r>
              <a:rPr sz="3200" b="1" spc="-50">
                <a:solidFill>
                  <a:srgbClr val="1D6B7A"/>
                </a:solidFill>
                <a:latin typeface="Arial"/>
              </a:rPr>
              <a:t>without a human in the loop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09625" y="809625"/>
            <a:ext cx="108870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50">
                <a:solidFill>
                  <a:srgbClr val="5B3FA6"/>
                </a:solidFill>
                <a:latin typeface="Courier New"/>
              </a:rPr>
              <a:t>// TRUST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809625" y="6238875"/>
            <a:ext cx="90487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5868"/>
                </a:solidFill>
                <a:latin typeface="Arial"/>
              </a:rPr>
              <a:t>Source: TeamViewer and Sapio Research, 4,200 workers, 9 countries, 2026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058400" y="6238875"/>
            <a:ext cx="13239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D5868"/>
                </a:solidFill>
                <a:latin typeface="Arial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543175"/>
            <a:ext cx="4095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B4552"/>
                </a:solidFill>
                <a:latin typeface="Arial"/>
              </a:rPr>
              <a:t>Want human oversight before AI acts</a:t>
            </a:r>
          </a:p>
        </p:txBody>
      </p:sp>
      <p:sp>
        <p:nvSpPr>
          <p:cNvPr id="7" name="Bar 61%"/>
          <p:cNvSpPr/>
          <p:nvPr/>
        </p:nvSpPr>
        <p:spPr>
          <a:xfrm>
            <a:off x="4905375" y="2495550"/>
            <a:ext cx="3875436" cy="3048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4161" y="2476500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A54A8"/>
                </a:solidFill>
                <a:latin typeface="Arial"/>
              </a:rPr>
              <a:t>61%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038475"/>
            <a:ext cx="4095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B4552"/>
                </a:solidFill>
                <a:latin typeface="Arial"/>
              </a:rPr>
              <a:t>Ready for AI to act more on its own</a:t>
            </a:r>
          </a:p>
        </p:txBody>
      </p:sp>
      <p:sp>
        <p:nvSpPr>
          <p:cNvPr id="10" name="Bar 35%"/>
          <p:cNvSpPr/>
          <p:nvPr/>
        </p:nvSpPr>
        <p:spPr>
          <a:xfrm>
            <a:off x="4905375" y="2990850"/>
            <a:ext cx="2223611" cy="304800"/>
          </a:xfrm>
          <a:prstGeom prst="rect">
            <a:avLst/>
          </a:prstGeom>
          <a:solidFill>
            <a:srgbClr val="9DB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2336" y="2971800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A54A8"/>
                </a:solidFill>
                <a:latin typeface="Arial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533775"/>
            <a:ext cx="4095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B4552"/>
                </a:solidFill>
                <a:latin typeface="Arial"/>
              </a:rPr>
              <a:t>No concerns, no human in the loop</a:t>
            </a:r>
          </a:p>
        </p:txBody>
      </p:sp>
      <p:sp>
        <p:nvSpPr>
          <p:cNvPr id="13" name="Bar 5%"/>
          <p:cNvSpPr/>
          <p:nvPr/>
        </p:nvSpPr>
        <p:spPr>
          <a:xfrm>
            <a:off x="4905375" y="3486150"/>
            <a:ext cx="317658" cy="304800"/>
          </a:xfrm>
          <a:prstGeom prst="rect">
            <a:avLst/>
          </a:prstGeom>
          <a:solidFill>
            <a:srgbClr val="E06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6383" y="3467100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B84A3D"/>
                </a:solidFill>
                <a:latin typeface="Arial"/>
              </a:rPr>
              <a:t>5%</a:t>
            </a:r>
          </a:p>
        </p:txBody>
      </p:sp>
      <p:sp>
        <p:nvSpPr>
          <p:cNvPr id="15" name="Card ratio"/>
          <p:cNvSpPr/>
          <p:nvPr/>
        </p:nvSpPr>
        <p:spPr>
          <a:xfrm>
            <a:off x="819150" y="4191000"/>
            <a:ext cx="5172075" cy="1333500"/>
          </a:xfrm>
          <a:prstGeom prst="roundRect">
            <a:avLst>
              <a:gd name="adj" fmla="val 6669"/>
            </a:avLst>
          </a:prstGeom>
          <a:solidFill>
            <a:srgbClr val="FDEEEA"/>
          </a:solidFill>
          <a:ln w="6350">
            <a:solidFill>
              <a:srgbClr val="F3B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5850" y="4400550"/>
            <a:ext cx="466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100">
                <a:solidFill>
                  <a:srgbClr val="B84A3D"/>
                </a:solidFill>
                <a:latin typeface="Arial"/>
              </a:rPr>
              <a:t>12.2x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5048250"/>
            <a:ext cx="4667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2,562 vs 210 of 4,200 workers</a:t>
            </a:r>
          </a:p>
        </p:txBody>
      </p:sp>
      <p:sp>
        <p:nvSpPr>
          <p:cNvPr id="18" name="Card hours"/>
          <p:cNvSpPr/>
          <p:nvPr/>
        </p:nvSpPr>
        <p:spPr>
          <a:xfrm>
            <a:off x="6200775" y="4191000"/>
            <a:ext cx="5172075" cy="133350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7475" y="4400550"/>
            <a:ext cx="466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100">
                <a:solidFill>
                  <a:srgbClr val="2A54A8"/>
                </a:solidFill>
                <a:latin typeface="Arial"/>
              </a:rPr>
              <a:t>2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5048250"/>
            <a:ext cx="4667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a week checking AI work, on average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BF3DF"/>
              </a:gs>
            </a:gsLst>
            <a:lin ang="5400000" scaled="0"/>
          </a:gradFill>
          <a:ln/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28725"/>
            <a:ext cx="10467975" cy="952500"/>
          </a:xfrm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1" spc="-50">
                <a:solidFill>
                  <a:srgbClr val="2B4552"/>
                </a:solidFill>
                <a:latin typeface="Arial"/>
              </a:rPr>
              <a:t>Workers want a human on </a:t>
            </a:r>
            <a:r>
              <a:rPr sz="3200" b="1" spc="-50">
                <a:solidFill>
                  <a:srgbClr val="1D6B7A"/>
                </a:solidFill>
                <a:latin typeface="Arial"/>
              </a:rPr>
              <a:t>more tasks</a:t>
            </a:r>
            <a:r>
              <a:rPr sz="3200" b="1" spc="-50">
                <a:solidFill>
                  <a:srgbClr val="2B4552"/>
                </a:solidFill>
                <a:latin typeface="Arial"/>
              </a:rPr>
              <a:t> than they want to automate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09625" y="809625"/>
            <a:ext cx="108870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50">
                <a:solidFill>
                  <a:srgbClr val="5B3FA6"/>
                </a:solidFill>
                <a:latin typeface="Courier New"/>
              </a:rPr>
              <a:t>// THE GAP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809625" y="6238875"/>
            <a:ext cx="90487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5868"/>
                </a:solidFill>
                <a:latin typeface="Arial"/>
              </a:rPr>
              <a:t>Source: Stanford SALT Lab (1,500 workers, 104 occupations, 844 tasks). About equal: the gap is small.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058400" y="6238875"/>
            <a:ext cx="13239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D5868"/>
                </a:solidFill>
                <a:latin typeface="Arial"/>
              </a:rPr>
              <a:t>5 / 8</a:t>
            </a:r>
          </a:p>
        </p:txBody>
      </p:sp>
      <p:sp>
        <p:nvSpPr>
          <p:cNvPr id="6" name="Card more human"/>
          <p:cNvSpPr/>
          <p:nvPr/>
        </p:nvSpPr>
        <p:spPr>
          <a:xfrm>
            <a:off x="819150" y="2495550"/>
            <a:ext cx="5172075" cy="1905000"/>
          </a:xfrm>
          <a:prstGeom prst="roundRect">
            <a:avLst>
              <a:gd name="adj" fmla="val 6669"/>
            </a:avLst>
          </a:prstGeom>
          <a:solidFill>
            <a:srgbClr val="FBF3DF"/>
          </a:solidFill>
          <a:ln w="1905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2705100"/>
            <a:ext cx="4667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spc="-150">
                <a:solidFill>
                  <a:srgbClr val="8A5A00"/>
                </a:solidFill>
                <a:latin typeface="Arial"/>
              </a:rPr>
              <a:t>47.5%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3543300"/>
            <a:ext cx="4667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want MORE human involvement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810000"/>
            <a:ext cx="4667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D5868"/>
                </a:solidFill>
                <a:latin typeface="Arial"/>
              </a:rPr>
              <a:t>about 401 of 844 tasks</a:t>
            </a:r>
          </a:p>
        </p:txBody>
      </p:sp>
      <p:sp>
        <p:nvSpPr>
          <p:cNvPr id="10" name="Card automate"/>
          <p:cNvSpPr/>
          <p:nvPr/>
        </p:nvSpPr>
        <p:spPr>
          <a:xfrm>
            <a:off x="6200775" y="2495550"/>
            <a:ext cx="5172075" cy="190500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7475" y="2705100"/>
            <a:ext cx="4667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spc="-150">
                <a:solidFill>
                  <a:srgbClr val="8A5A00"/>
                </a:solidFill>
                <a:latin typeface="Arial"/>
              </a:rPr>
              <a:t>46.1%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543300"/>
            <a:ext cx="4667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want AI to automate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3810000"/>
            <a:ext cx="4667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D5868"/>
                </a:solidFill>
                <a:latin typeface="Arial"/>
              </a:rPr>
              <a:t>about 389 of 844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50" y="4705350"/>
            <a:ext cx="10553700" cy="72390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254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750" y="4705350"/>
            <a:ext cx="100965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8A5A00"/>
                </a:solidFill>
                <a:latin typeface="Arial"/>
              </a:rPr>
              <a:t>41% of Y Combinator company-task pairings land in low-priority or red-light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0EBFA"/>
              </a:gs>
            </a:gsLst>
            <a:lin ang="5400000" scaled="0"/>
          </a:gradFill>
          <a:ln/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28725"/>
            <a:ext cx="10467975" cy="952500"/>
          </a:xfrm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1" spc="-50">
                <a:solidFill>
                  <a:srgbClr val="2B4552"/>
                </a:solidFill>
                <a:latin typeface="Arial"/>
              </a:rPr>
              <a:t>Workers spend 2 hours a week checking AI work, and 51% </a:t>
            </a:r>
            <a:r>
              <a:rPr sz="3200" b="1" spc="-50">
                <a:solidFill>
                  <a:srgbClr val="1D6B7A"/>
                </a:solidFill>
                <a:latin typeface="Arial"/>
              </a:rPr>
              <a:t>don't always know when to trust it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09625" y="809625"/>
            <a:ext cx="108870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50">
                <a:solidFill>
                  <a:srgbClr val="5B3FA6"/>
                </a:solidFill>
                <a:latin typeface="Courier New"/>
              </a:rPr>
              <a:t>// THE COST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809625" y="6238875"/>
            <a:ext cx="90487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5868"/>
                </a:solidFill>
                <a:latin typeface="Arial"/>
              </a:rPr>
              <a:t>Source: TeamViewer and Sapio Research, 4,200 workers, 9 countries, 2026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058400" y="6238875"/>
            <a:ext cx="13239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D5868"/>
                </a:solidFill>
                <a:latin typeface="Arial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619375"/>
            <a:ext cx="4095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B4552"/>
                </a:solidFill>
                <a:latin typeface="Arial"/>
              </a:rPr>
              <a:t>Often or always verify AI output</a:t>
            </a:r>
          </a:p>
        </p:txBody>
      </p:sp>
      <p:sp>
        <p:nvSpPr>
          <p:cNvPr id="7" name="Bar 56%"/>
          <p:cNvSpPr/>
          <p:nvPr/>
        </p:nvSpPr>
        <p:spPr>
          <a:xfrm>
            <a:off x="4905375" y="2571750"/>
            <a:ext cx="3733800" cy="323850"/>
          </a:xfrm>
          <a:prstGeom prst="rect">
            <a:avLst/>
          </a:prstGeom>
          <a:solidFill>
            <a:srgbClr val="7A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2525" y="2562225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B3FA6"/>
                </a:solidFill>
                <a:latin typeface="Arial"/>
              </a:rPr>
              <a:t>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152775"/>
            <a:ext cx="4095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B4552"/>
                </a:solidFill>
                <a:latin typeface="Arial"/>
              </a:rPr>
              <a:t>Don't always know when to trust AI</a:t>
            </a:r>
          </a:p>
        </p:txBody>
      </p:sp>
      <p:sp>
        <p:nvSpPr>
          <p:cNvPr id="10" name="Bar 51%"/>
          <p:cNvSpPr/>
          <p:nvPr/>
        </p:nvSpPr>
        <p:spPr>
          <a:xfrm>
            <a:off x="4905375" y="3105150"/>
            <a:ext cx="3400425" cy="323850"/>
          </a:xfrm>
          <a:prstGeom prst="rect">
            <a:avLst/>
          </a:prstGeom>
          <a:solidFill>
            <a:srgbClr val="C9B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150" y="3095625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B3FA6"/>
                </a:solidFill>
                <a:latin typeface="Arial"/>
              </a:rPr>
              <a:t>51%</a:t>
            </a:r>
          </a:p>
        </p:txBody>
      </p:sp>
      <p:sp>
        <p:nvSpPr>
          <p:cNvPr id="12" name="Card hours"/>
          <p:cNvSpPr/>
          <p:nvPr/>
        </p:nvSpPr>
        <p:spPr>
          <a:xfrm>
            <a:off x="819150" y="4191000"/>
            <a:ext cx="5172075" cy="1333500"/>
          </a:xfrm>
          <a:prstGeom prst="roundRect">
            <a:avLst>
              <a:gd name="adj" fmla="val 6669"/>
            </a:avLst>
          </a:prstGeom>
          <a:solidFill>
            <a:srgbClr val="FDEEEA"/>
          </a:solidFill>
          <a:ln w="6350">
            <a:solidFill>
              <a:srgbClr val="F3B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5850" y="4400550"/>
            <a:ext cx="466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100">
                <a:solidFill>
                  <a:srgbClr val="B84A3D"/>
                </a:solidFill>
                <a:latin typeface="Arial"/>
              </a:rPr>
              <a:t>2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5048250"/>
            <a:ext cx="4667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a week checking AI work, on average</a:t>
            </a:r>
          </a:p>
        </p:txBody>
      </p:sp>
      <p:sp>
        <p:nvSpPr>
          <p:cNvPr id="15" name="Card verify"/>
          <p:cNvSpPr/>
          <p:nvPr/>
        </p:nvSpPr>
        <p:spPr>
          <a:xfrm>
            <a:off x="6200775" y="4191000"/>
            <a:ext cx="5172075" cy="133350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7475" y="4400550"/>
            <a:ext cx="466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spc="-100">
                <a:solidFill>
                  <a:srgbClr val="5B3FA6"/>
                </a:solidFill>
                <a:latin typeface="Arial"/>
              </a:rPr>
              <a:t>2,352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5048250"/>
            <a:ext cx="4667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of 4,200 workers often or always verify AI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8F4F6"/>
              </a:gs>
            </a:gsLst>
            <a:lin ang="5400000" scaled="0"/>
          </a:gradFill>
          <a:ln/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28725"/>
            <a:ext cx="10467975" cy="952500"/>
          </a:xfrm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1" spc="-50">
                <a:solidFill>
                  <a:srgbClr val="2B4552"/>
                </a:solidFill>
                <a:latin typeface="Arial"/>
              </a:rPr>
              <a:t>Readers </a:t>
            </a:r>
            <a:r>
              <a:rPr sz="3200" b="1" spc="-50">
                <a:solidFill>
                  <a:srgbClr val="1D6B7A"/>
                </a:solidFill>
                <a:latin typeface="Arial"/>
              </a:rPr>
              <a:t>could not tell</a:t>
            </a:r>
            <a:r>
              <a:rPr sz="3200" b="1" spc="-50">
                <a:solidFill>
                  <a:srgbClr val="2B4552"/>
                </a:solidFill>
                <a:latin typeface="Arial"/>
              </a:rPr>
              <a:t> AI-assisted writing from writing done alone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09625" y="809625"/>
            <a:ext cx="108870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50">
                <a:solidFill>
                  <a:srgbClr val="5B3FA6"/>
                </a:solidFill>
                <a:latin typeface="Courier New"/>
              </a:rPr>
              <a:t>// THE SIGNAL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809625" y="6238875"/>
            <a:ext cx="90487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5868"/>
                </a:solidFill>
                <a:latin typeface="Arial"/>
              </a:rPr>
              <a:t>Source: Hwang et al., "It was 80% me, 20% AI" (arXiv 2411.13032, 2024)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058400" y="6238875"/>
            <a:ext cx="13239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D5868"/>
                </a:solidFill>
                <a:latin typeface="Arial"/>
              </a:rPr>
              <a:t>7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5000" y="2495550"/>
            <a:ext cx="3619500" cy="142875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2705100"/>
            <a:ext cx="361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spc="-100">
                <a:solidFill>
                  <a:srgbClr val="1D5F6E"/>
                </a:solidFill>
                <a:latin typeface="Arial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3390900"/>
            <a:ext cx="3619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4D5868"/>
                </a:solidFill>
                <a:latin typeface="Arial"/>
              </a:rPr>
              <a:t>professional writers interviewed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0" y="2857500"/>
            <a:ext cx="114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2B7E90"/>
                </a:solidFill>
                <a:latin typeface="Arial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2495550"/>
            <a:ext cx="3619500" cy="142875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0" y="2705100"/>
            <a:ext cx="361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spc="-100">
                <a:solidFill>
                  <a:srgbClr val="1D5F6E"/>
                </a:solidFill>
                <a:latin typeface="Arial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3390900"/>
            <a:ext cx="3619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4D5868"/>
                </a:solidFill>
                <a:latin typeface="Arial"/>
              </a:rPr>
              <a:t>readers surveyed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3500" y="4476750"/>
            <a:ext cx="9525000" cy="85725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25400">
            <a:solidFill>
              <a:srgbClr val="2B7E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9250" y="4476750"/>
            <a:ext cx="89535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D5F6E"/>
                </a:solidFill>
                <a:latin typeface="Arial"/>
              </a:rPr>
              <a:t>Personalized or not, readers could not tell AI-assisted work from solo writing. Small study: a signal, not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DEEEA"/>
              </a:gs>
            </a:gsLst>
            <a:lin ang="5400000" scaled="0"/>
          </a:gradFill>
          <a:ln/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28725"/>
            <a:ext cx="10467975" cy="952500"/>
          </a:xfrm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1" spc="-50">
                <a:solidFill>
                  <a:srgbClr val="2B4552"/>
                </a:solidFill>
                <a:latin typeface="Arial"/>
              </a:rPr>
              <a:t>The research points one way: build for </a:t>
            </a:r>
            <a:r>
              <a:rPr sz="3200" b="1" spc="-50">
                <a:solidFill>
                  <a:srgbClr val="1D6B7A"/>
                </a:solidFill>
                <a:latin typeface="Arial"/>
              </a:rPr>
              <a:t>fit, oversight and trust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09625" y="809625"/>
            <a:ext cx="108870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50">
                <a:solidFill>
                  <a:srgbClr val="5B3FA6"/>
                </a:solidFill>
                <a:latin typeface="Courier New"/>
              </a:rPr>
              <a:t>// THE TAKEAWAY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809625" y="6238875"/>
            <a:ext cx="90487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5868"/>
                </a:solidFill>
                <a:latin typeface="Arial"/>
              </a:rPr>
              <a:t>Source: MIT (via Computing); TeamViewer and Sapio Research, 2026. The takeaway is my reading of the evidence.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058400" y="6238875"/>
            <a:ext cx="13239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D5868"/>
                </a:solidFill>
                <a:latin typeface="Arial"/>
              </a:rPr>
              <a:t>8 / 8</a:t>
            </a:r>
          </a:p>
        </p:txBody>
      </p:sp>
      <p:sp>
        <p:nvSpPr>
          <p:cNvPr id="6" name="Card 1"/>
          <p:cNvSpPr/>
          <p:nvPr/>
        </p:nvSpPr>
        <p:spPr>
          <a:xfrm>
            <a:off x="819150" y="2495550"/>
            <a:ext cx="3333750" cy="190500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70510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spc="-80">
                <a:solidFill>
                  <a:srgbClr val="B84A3D"/>
                </a:solidFill>
                <a:latin typeface="Arial"/>
              </a:rPr>
              <a:t>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2857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Pilots stall on fit, not the model: 19 to 1</a:t>
            </a:r>
          </a:p>
        </p:txBody>
      </p:sp>
      <p:sp>
        <p:nvSpPr>
          <p:cNvPr id="9" name="Card 2"/>
          <p:cNvSpPr/>
          <p:nvPr/>
        </p:nvSpPr>
        <p:spPr>
          <a:xfrm>
            <a:off x="4391025" y="2495550"/>
            <a:ext cx="3333750" cy="190500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9625" y="270510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spc="-80">
                <a:solidFill>
                  <a:srgbClr val="B84A3D"/>
                </a:solidFill>
                <a:latin typeface="Arial"/>
              </a:rPr>
              <a:t>Oversight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333750"/>
            <a:ext cx="2857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61% want human oversight before AI acts</a:t>
            </a:r>
          </a:p>
        </p:txBody>
      </p:sp>
      <p:sp>
        <p:nvSpPr>
          <p:cNvPr id="12" name="Card 3"/>
          <p:cNvSpPr/>
          <p:nvPr/>
        </p:nvSpPr>
        <p:spPr>
          <a:xfrm>
            <a:off x="7962900" y="2495550"/>
            <a:ext cx="3333750" cy="190500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6350">
            <a:solidFill>
              <a:srgbClr val="E3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500" y="270510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spc="-80">
                <a:solidFill>
                  <a:srgbClr val="B84A3D"/>
                </a:solidFill>
                <a:latin typeface="Arial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3333750"/>
            <a:ext cx="2857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4552"/>
                </a:solidFill>
                <a:latin typeface="Arial"/>
              </a:rPr>
              <a:t>2 hours a week spent checking AI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150" y="4762500"/>
            <a:ext cx="10553700" cy="723900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25400">
            <a:solidFill>
              <a:srgbClr val="E06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750" y="4762500"/>
            <a:ext cx="100965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B84A3D"/>
                </a:solidFill>
                <a:latin typeface="Arial"/>
              </a:rPr>
              <a:t>Build around what people need, keep a human in the loop, and make AI easy to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sing the Gap Between AI and Real Needs">
  <a:themeElements>
    <a:clrScheme name="Closing the Gap Between AI and Real Needs">
      <a:dk1>
        <a:srgbClr val="2B4552"/>
      </a:dk1>
      <a:lt1>
        <a:srgbClr val="FFFFFF"/>
      </a:lt1>
      <a:dk2>
        <a:srgbClr val="60747D"/>
      </a:dk2>
      <a:lt2>
        <a:srgbClr val="EAECEE"/>
      </a:lt2>
      <a:accent1>
        <a:srgbClr val="5B3FA6"/>
      </a:accent1>
      <a:accent2>
        <a:srgbClr val="1D5F6E"/>
      </a:accent2>
      <a:accent3>
        <a:srgbClr val="B84A3D"/>
      </a:accent3>
      <a:accent4>
        <a:srgbClr val="2B7E90"/>
      </a:accent4>
      <a:accent5>
        <a:srgbClr val="2A54A8"/>
      </a:accent5>
      <a:accent6>
        <a:srgbClr val="3B6FD4"/>
      </a:accent6>
      <a:hlink>
        <a:srgbClr val="0563C1"/>
      </a:hlink>
      <a:folHlink>
        <a:srgbClr val="954F72"/>
      </a:folHlink>
    </a:clrScheme>
    <a:fontScheme name="Closing the Gap Between AI and Real Nee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Gap Between AI and Real Needs</dc:title>
  <dc:subject/>
  <dc:creator/>
  <cp:lastModifiedBy/>
  <cp:revision>1</cp:revision>
  <dcterms:created xsi:type="dcterms:W3CDTF">2026-10-25T18:52:05Z</dcterms:created>
  <dcterms:modified xsi:type="dcterms:W3CDTF">2026-10-25T18:52:05Z</dcterms:modified>
</cp:coreProperties>
</file>