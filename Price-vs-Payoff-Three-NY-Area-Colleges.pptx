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embeddedFontLst>
    <p:embeddedFont>
      <p:font typeface="Plus Jakarta Sans" pitchFamily="34" charset="0"/>
      <p:regular r:id="rId21"/>
      <p:bold r:id="rId22"/>
    </p:embeddedFont>
    <p:embeddedFont>
      <p:font typeface="JetBrains Mono" panose="02000009000000000000" pitchFamily="49"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question: does a higher price buy a better result? The deck covers the national research on whether college pays, then compares Rutgers University-Newark, CUNY Hunter College and New York University against 200 schools in the College Scorecard data, and ends with four numbers families can use to compare any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parts: first the national research on whether college pays and what decides the payoff, then three New York-area schools from the College Scorecard data (one catch each), then the checklist and the four numbers to compare before committing.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BLS 2025: median usual weekly earnings were $1,578 for bachelor's holders and $966 for high school graduates, about 63% more; unemployment was 2.8% versus 4.3%. NCES, ages 25-34, full-time year-round, 2022: $66,600 versus $41,800, 59% more. The BLS 2025 figures are 11-month averages that exclude October. This is the starting point: on average, the degree pays. The next slides explain why an average is not a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College Board 2025-26: published tuition and fees are $11,950 at public four-year colleges (in-state), $45,000 at private nonprofit four-year colleges and $4,150 at public two-year colleges. Estimated net tuition and fees after grant aid are about $2,300 at public four-years (81% below sticker) and $16,910 at private nonprofits (62% below). At public two-years, first-time full-time students have on average received enough grant aid to cover tuition and fees since 2009-10. Net price excludes living costs and varies by family income. Each row shows the gap between sticker price (dark grey dot) and net price (petrol dot). The point for families: compare net price, not sticker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Georgetown CEW's ROI database ranks about 4,500 colleges. At 1,233 of them (30%), more than half of students earn less than a high school graduate 10 years after enrolling; the ring shows that 30%. By degree level, the 2019 report's medians of net present value at 10 years are $120,000 for certificate-focused institutions, $141,000 for associate's and $71,000 for bachelor's institutions. At 40 years bachelor's institutions lead at $864,000. The medians are read from a figure in the report, and the report is from 2019, so treat the dollar values as dated and the pattern as the point. Bachelor's programs take longer to complete and carry about twice the debt of certificate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NCES: among first-time, full-time bachelor's-seeking students who started at four-year institutions in fall 2014, 64% had graduated by 2020 from the same institution: 63% at public, 68% at private nonprofit and 29% at private for-profit schools. The dot grid shows 64 of 100 students finishing. The rates count only graduation from the school where students started, so students who transfer and finish elsewhere are not counted. A low graduation rate means many students pay and borrow without finishing. The point: completion is the biggest swing factor in whether the cost pays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NY Fed, Q2 2026: recent-graduate unemployment about 5.6% and underemployment 42%, slightly up from the prior quarter. NY Fed household debt data, Q1 2026 (reported May 12, 2026): 10.3% of student-loan balances were 90 or more days overdue, up from 9.6% at the end of 2025, and about 2.6 million borrowers more than 120 days past due were transferred to the Education Department's Default Resolution Group. Each ring fills to the percentage shown. I read the delinquency figures through a news report of the NY Fed release; check the release before quoting them formally. The point: the average payoff is real, but it is not guaranteed for each graduate or borrower.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contrast. Hunter (in-state tuition $7,382) returns $2.14 of 10-year median earnings per dollar of four-year tuition; NYU (tuition $62,796) returns $0.33. The dataset average is $1.11 in-state. The chart plots all 200 schools: tuition across, earnings up. Hunter sits at low cost with mid earnings and NYU at high cost with high earnings; most schools sit in between. That is 196 grey dots plus the 3 highlighted schools; one school has no tuition figure, so it is not plotted. Tuition figures are sticker prices, not 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measures are indexed to Hunter = 100 so tuition and earnings can share one axis. Tuition rises to 234 at Rutgers-Newark and 851 at NYU (about 8.5x). Ten-year earnings rise only to 118 and 131 (NYU about 31% above Hunter, a $19,346 gap). Hunter and Rutgers-Newark are in-state rates; NYU charges one rate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NYU is elite on selectivity and earnings but poor on value. The first ring is the 9.2% admission rate (16th most selective of 200). The second ring fills to the 76th percentile for earnings of $82,509 (48th). The third ring fills to about the 12th percentile for return per tuition-dollar of $0.33 (176th of 199, dataset average $1.11). Fair caveats: this is sticker price, many students get aid, and NYU completion (88.0%) is above its price tier (86.2%).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Hunter ranks 18th of 199 on return per in-state tuition-dollar ($2.14), which is the 91st percentile and what the first ring shows. It has the 22nd-lowest debt burden (17.4% of earnings against a 30.3% average, shown by the tick on the second ring). But its 58.8% completion rate ranks 153rd of 200 and sits below the 72.5% average (tick on the third ring). The data cannot say why, so the advice is to ask the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left, three horizontal bars (200-school average $70,114; Rutgers-Newark $74,479, highlighted; New Jersey bachelor's holder $80,114), bars start at zero. Right, a pie chart of all 200 schools split by whether their graduates' earnings are above or below their own state's bachelor's average: 102 below (51%, Rutgers-Newark is one) and 98 above (49%). The pie shows Rutgers-Newark is in the larger group, not an outlier. Rutgers-Newark's $74,479 beats the 200-school average of $70,114 but trails the New Jersey bachelor's average of $80,114 by $5,635 (131st of 200). After adjusting for New Jersey's cost of living, earnings fall to $68,455, below the adjusted average of $69,617. Debt of $21,500 is the highest of the three schools.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two numbers families can ask any school for. Completion rate: Hunter 58.8%, NYU 88.0%, Rutgers-Newark 65.7%, average 72.5%. Debt burden (median debt divided by 10-year median earnings): Hunter 17.4%, NYU 24.8%, Rutgers-Newark 28.9%, average 30.3%. Bars are drawn to scale (finish rate out of 100%, debt burden out of 40%). Remind the audience that sticker price ignores financial aid and the earnings data covers federal-aid recipients.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action. Pick three options (schools or programs), then compare net price, graduation rate, earnings ten years out for the specific program, and debt compared with earnings. The earlier slides showed why each matters: the average premium is real (slide 3), net price differs from sticker (slide 4), the payoff depends on the program (slide 5), finishing is the swing factor (slide 6), and risk remains after graduating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bg>
      <p:bgRef idx="1001">
        <a:schemeClr val="bg1"/>
      </p:bgRef>
    </p:bg>
    <p:spTree>
      <p:nvGrpSpPr>
        <p:cNvPr id="1" name=""/>
        <p:cNvGrpSpPr/>
        <p:nvPr/>
      </p:nvGrpSpPr>
      <p:grpSpPr>
        <a:xfrm>
          <a:off x="0" y="0"/>
          <a:ext cx="0" cy="0"/>
          <a:chOff x="0" y="0"/>
          <a:chExt cx="0" cy="0"/>
        </a:xfrm>
      </p:grpSpPr>
      <p:sp>
        <p:nvSpPr>
          <p:cNvPr id="4" name="Slide Number Placeholder"/>
          <p:cNvSpPr>
            <a:spLocks noGrp="1"/>
          </p:cNvSpPr>
          <p:nvPr>
            <p:ph type="sldNum" sz="quarter" idx="12"/>
          </p:nvPr>
        </p:nvSpPr>
        <p:spPr>
          <a:xfrm>
            <a:off x="10617200" y="6486000"/>
            <a:ext cx="762000" cy="228600"/>
          </a:xfrm>
          <a:prstGeom prst="rect">
            <a:avLst/>
          </a:prstGeom>
          <a:noFill/>
        </p:spPr>
        <p:txBody>
          <a:bodyPr wrap="square" lIns="0" tIns="0" rIns="0" bIns="0" rtlCol="0" anchor="ctr"/>
          <a:lstStyle>
            <a:lvl1pPr algn="r" indent="0" marL="0">
              <a:buNone/>
              <a:defRPr lang="en-US" sz="1200" b="0">
                <a:solidFill>
                  <a:srgbClr val="566170"/>
                </a:solidFill>
                <a:latin typeface="JetBrains Mono" pitchFamily="49" charset="0"/>
                <a:ea typeface="JetBrains Mono" pitchFamily="49" charset="-122"/>
                <a:cs typeface="JetBrains Mono" pitchFamily="49" charset="-120"/>
              </a:defRPr>
            </a:lvl1pPr>
          </a:lstStyle>
          <a:p>
            <a:fld id="{B6F15528-21DE-4FAA-801E-634DDDAF4B2B}" type="slidenum">
              <a:rPr lang="en-US"/>
              <a:t>‹#›</a:t>
            </a:fld>
            <a:endParaRPr lang="en-US"/>
          </a:p>
        </p:txBody>
      </p:sp>
      <p:sp>
        <p:nvSpPr>
          <p:cNvPr id="5" name="Footer Placeholder"/>
          <p:cNvSpPr>
            <a:spLocks noGrp="1"/>
          </p:cNvSpPr>
          <p:nvPr>
            <p:ph type="ftr" sz="quarter" idx="11"/>
          </p:nvPr>
        </p:nvSpPr>
        <p:spPr>
          <a:xfrm>
            <a:off x="812800" y="6486000"/>
            <a:ext cx="9601200" cy="228600"/>
          </a:xfrm>
          <a:prstGeom prst="rect">
            <a:avLst/>
          </a:prstGeom>
          <a:noFill/>
        </p:spPr>
        <p:txBody>
          <a:bodyPr wrap="square" lIns="0" tIns="0" rIns="0" bIns="0" rtlCol="0" anchor="ctr"/>
          <a:lstStyle>
            <a:lvl1pPr algn="l" indent="0" marL="0">
              <a:buNone/>
              <a:defRPr lang="en-US" sz="1000">
                <a:solidFill>
                  <a:srgbClr val="566170"/>
                </a:solidFill>
                <a:latin typeface="Plus Jakarta Sans" pitchFamily="34" charset="0"/>
                <a:ea typeface="Plus Jakarta Sans" pitchFamily="34" charset="-122"/>
                <a:cs typeface="Plus Jakarta Sans" pitchFamily="34" charset="-120"/>
              </a:defRPr>
            </a:lvl1p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light)">
    <p:bg>
      <p:bgPr>
        <a:solidFill>
          <a:srgbClr val="F7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838200"/>
          </a:xfrm>
          <a:prstGeom prst="rect">
            <a:avLst/>
          </a:prstGeom>
          <a:noFill/>
          <a:ln/>
        </p:spPr>
        <p:txBody>
          <a:bodyPr wrap="square" lIns="0" tIns="0" rIns="0" bIns="0" rtlCol="0" anchor="t"/>
          <a:lstStyle>
            <a:lvl1pPr algn="l" indent="0" marL="0">
              <a:lnSpc>
                <a:spcPct val="115000"/>
              </a:lnSpc>
              <a:buNone/>
              <a:defRPr lang="en-US" sz="3000" b="1" spc="-50" dirty="0">
                <a:solidFill>
                  <a:srgbClr val="16202E"/>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955800"/>
            <a:ext cx="10566400" cy="4089400"/>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Plus Jakarta Sans" pitchFamily="34" charset="0"/>
                <a:ea typeface="Plus Jakarta Sans" pitchFamily="34" charset="-122"/>
                <a:cs typeface="Plus Jakarta Sans" pitchFamily="34" charset="-120"/>
              </a:defRPr>
            </a:lvl1pPr>
          </a:lstStyle>
          <a:p>
            <a:pPr algn="l" indent="0" marL="0">
              <a:lnSpc>
                <a:spcPct val="140000"/>
              </a:lnSpc>
              <a:buNone/>
            </a:pPr>
            <a:endParaRPr lang="en-US" sz="1600" dirty="0"/>
          </a:p>
        </p:txBody>
      </p:sp>
      <p:sp>
        <p:nvSpPr>
          <p:cNvPr id="4" name="Slide Number Placeholder"/>
          <p:cNvSpPr>
            <a:spLocks noGrp="1"/>
          </p:cNvSpPr>
          <p:nvPr>
            <p:ph type="sldNum" sz="quarter" idx="12"/>
          </p:nvPr>
        </p:nvSpPr>
        <p:spPr>
          <a:xfrm>
            <a:off x="10617200" y="6486000"/>
            <a:ext cx="762000" cy="228600"/>
          </a:xfrm>
          <a:prstGeom prst="rect">
            <a:avLst/>
          </a:prstGeom>
          <a:noFill/>
        </p:spPr>
        <p:txBody>
          <a:bodyPr wrap="square" lIns="0" tIns="0" rIns="0" bIns="0" rtlCol="0" anchor="ctr"/>
          <a:lstStyle>
            <a:lvl1pPr algn="r" indent="0" marL="0">
              <a:buNone/>
              <a:defRPr lang="en-US" sz="1200" b="0">
                <a:solidFill>
                  <a:srgbClr val="566170"/>
                </a:solidFill>
                <a:latin typeface="JetBrains Mono" pitchFamily="49" charset="0"/>
                <a:ea typeface="JetBrains Mono" pitchFamily="49" charset="-122"/>
                <a:cs typeface="JetBrains Mono" pitchFamily="49" charset="-120"/>
              </a:defRPr>
            </a:lvl1pPr>
          </a:lstStyle>
          <a:p>
            <a:fld id="{B6F15528-21DE-4FAA-801E-634DDDAF4B2B}" type="slidenum">
              <a:rPr lang="en-US"/>
              <a:t>‹#›</a:t>
            </a:fld>
            <a:endParaRPr lang="en-US"/>
          </a:p>
        </p:txBody>
      </p:sp>
      <p:sp>
        <p:nvSpPr>
          <p:cNvPr id="5" name="Footer Placeholder"/>
          <p:cNvSpPr>
            <a:spLocks noGrp="1"/>
          </p:cNvSpPr>
          <p:nvPr>
            <p:ph type="ftr" sz="quarter" idx="11"/>
          </p:nvPr>
        </p:nvSpPr>
        <p:spPr>
          <a:xfrm>
            <a:off x="812800" y="6486000"/>
            <a:ext cx="9601200" cy="228600"/>
          </a:xfrm>
          <a:prstGeom prst="rect">
            <a:avLst/>
          </a:prstGeom>
          <a:noFill/>
        </p:spPr>
        <p:txBody>
          <a:bodyPr wrap="square" lIns="0" tIns="0" rIns="0" bIns="0" rtlCol="0" anchor="ctr"/>
          <a:lstStyle>
            <a:lvl1pPr algn="l" indent="0" marL="0">
              <a:buNone/>
              <a:defRPr lang="en-US" sz="1000">
                <a:solidFill>
                  <a:srgbClr val="566170"/>
                </a:solidFill>
                <a:latin typeface="Plus Jakarta Sans" pitchFamily="34" charset="0"/>
                <a:ea typeface="Plus Jakarta Sans" pitchFamily="34" charset="-122"/>
                <a:cs typeface="Plus Jakarta Sans" pitchFamily="34" charset="-120"/>
              </a:defRPr>
            </a:lvl1p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image backgrou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838200"/>
          </a:xfrm>
          <a:prstGeom prst="rect">
            <a:avLst/>
          </a:prstGeom>
          <a:noFill/>
          <a:ln/>
        </p:spPr>
        <p:txBody>
          <a:bodyPr wrap="square" lIns="0" tIns="0" rIns="0" bIns="0" rtlCol="0" anchor="t"/>
          <a:lstStyle>
            <a:lvl1pPr algn="l" indent="0" marL="0">
              <a:lnSpc>
                <a:spcPct val="115000"/>
              </a:lnSpc>
              <a:buNone/>
              <a:defRPr lang="en-US" sz="3000" b="1" spc="-50" dirty="0">
                <a:solidFill>
                  <a:srgbClr val="F7F4EE"/>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955800"/>
            <a:ext cx="10566400" cy="4089400"/>
          </a:xfrm>
          <a:prstGeom prst="rect">
            <a:avLst/>
          </a:prstGeom>
          <a:noFill/>
          <a:ln/>
        </p:spPr>
        <p:txBody>
          <a:bodyPr wrap="square" lIns="0" tIns="0" rIns="0" bIns="0" rtlCol="0" anchor="t"/>
          <a:lstStyle>
            <a:lvl1pPr algn="l" indent="0" marL="0">
              <a:lnSpc>
                <a:spcPct val="140000"/>
              </a:lnSpc>
              <a:buNone/>
              <a:defRPr lang="en-US" sz="1600" dirty="0">
                <a:solidFill>
                  <a:srgbClr val="F7F4EE"/>
                </a:solidFill>
                <a:latin typeface="Plus Jakarta Sans" pitchFamily="34" charset="0"/>
                <a:ea typeface="Plus Jakarta Sans" pitchFamily="34" charset="-122"/>
                <a:cs typeface="Plus Jakarta Sans" pitchFamily="34" charset="-120"/>
              </a:defRPr>
            </a:lvl1pPr>
          </a:lstStyle>
          <a:p>
            <a:pPr algn="l" indent="0" marL="0">
              <a:lnSpc>
                <a:spcPct val="140000"/>
              </a:lnSpc>
              <a:buNone/>
            </a:pPr>
            <a:endParaRPr lang="en-US" sz="1600" dirty="0"/>
          </a:p>
        </p:txBody>
      </p:sp>
      <p:sp>
        <p:nvSpPr>
          <p:cNvPr id="4" name="Slide Number Placeholder"/>
          <p:cNvSpPr>
            <a:spLocks noGrp="1"/>
          </p:cNvSpPr>
          <p:nvPr>
            <p:ph type="sldNum" sz="quarter" idx="12"/>
          </p:nvPr>
        </p:nvSpPr>
        <p:spPr>
          <a:xfrm>
            <a:off x="10617200" y="6486000"/>
            <a:ext cx="762000" cy="228600"/>
          </a:xfrm>
          <a:prstGeom prst="rect">
            <a:avLst/>
          </a:prstGeom>
          <a:noFill/>
        </p:spPr>
        <p:txBody>
          <a:bodyPr wrap="square" lIns="0" tIns="0" rIns="0" bIns="0" rtlCol="0" anchor="ctr"/>
          <a:lstStyle>
            <a:lvl1pPr algn="r" indent="0" marL="0">
              <a:buNone/>
              <a:defRPr lang="en-US" sz="1200" b="0">
                <a:solidFill>
                  <a:srgbClr val="A9D6E0"/>
                </a:solidFill>
                <a:latin typeface="JetBrains Mono" pitchFamily="49" charset="0"/>
                <a:ea typeface="JetBrains Mono" pitchFamily="49" charset="-122"/>
                <a:cs typeface="JetBrains Mono" pitchFamily="49" charset="-120"/>
              </a:defRPr>
            </a:lvl1pPr>
          </a:lstStyle>
          <a:p>
            <a:fld id="{B6F15528-21DE-4FAA-801E-634DDDAF4B2B}" type="slidenum">
              <a:rPr lang="en-US"/>
              <a:t>‹#›</a:t>
            </a:fld>
            <a:endParaRPr lang="en-US"/>
          </a:p>
        </p:txBody>
      </p:sp>
      <p:sp>
        <p:nvSpPr>
          <p:cNvPr id="5" name="Footer Placeholder"/>
          <p:cNvSpPr>
            <a:spLocks noGrp="1"/>
          </p:cNvSpPr>
          <p:nvPr>
            <p:ph type="ftr" sz="quarter" idx="11"/>
          </p:nvPr>
        </p:nvSpPr>
        <p:spPr>
          <a:xfrm>
            <a:off x="812800" y="6486000"/>
            <a:ext cx="9601200" cy="228600"/>
          </a:xfrm>
          <a:prstGeom prst="rect">
            <a:avLst/>
          </a:prstGeom>
          <a:noFill/>
        </p:spPr>
        <p:txBody>
          <a:bodyPr wrap="square" lIns="0" tIns="0" rIns="0" bIns="0" rtlCol="0" anchor="ctr"/>
          <a:lstStyle>
            <a:lvl1pPr algn="l" indent="0" marL="0">
              <a:buNone/>
              <a:defRPr lang="en-US" sz="1000">
                <a:solidFill>
                  <a:srgbClr val="A9D6E0"/>
                </a:solidFill>
                <a:latin typeface="Plus Jakarta Sans" pitchFamily="34" charset="0"/>
                <a:ea typeface="Plus Jakarta Sans" pitchFamily="34" charset="-122"/>
                <a:cs typeface="Plus Jakarta Sans" pitchFamily="34" charset="-120"/>
              </a:defRPr>
            </a:lvl1p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838200"/>
          </a:xfrm>
          <a:prstGeom prst="rect">
            <a:avLst/>
          </a:prstGeom>
          <a:noFill/>
          <a:ln/>
        </p:spPr>
        <p:txBody>
          <a:bodyPr wrap="square" lIns="0" tIns="0" rIns="0" bIns="0" rtlCol="0" anchor="t"/>
          <a:lstStyle>
            <a:lvl1pPr algn="l" indent="0" marL="0">
              <a:lnSpc>
                <a:spcPct val="115000"/>
              </a:lnSpc>
              <a:buNone/>
              <a:defRPr lang="en-US" sz="3000" b="1" spc="-50" dirty="0">
                <a:solidFill>
                  <a:srgbClr val="16202E"/>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955800"/>
            <a:ext cx="10566400" cy="4089400"/>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Plus Jakarta Sans" pitchFamily="34" charset="0"/>
                <a:ea typeface="Plus Jakarta Sans" pitchFamily="34" charset="-122"/>
                <a:cs typeface="Plus Jakarta Sans" pitchFamily="34" charset="-120"/>
              </a:defRPr>
            </a:lvl1pPr>
          </a:lstStyle>
          <a:p>
            <a:pPr algn="l" indent="0" marL="0">
              <a:lnSpc>
                <a:spcPct val="140000"/>
              </a:lnSpc>
              <a:buNone/>
            </a:pPr>
            <a:endParaRPr lang="en-US" sz="1600" dirty="0"/>
          </a:p>
        </p:txBody>
      </p:sp>
      <p:sp>
        <p:nvSpPr>
          <p:cNvPr id="4" name="Slide Number Placeholder"/>
          <p:cNvSpPr>
            <a:spLocks noGrp="1"/>
          </p:cNvSpPr>
          <p:nvPr>
            <p:ph type="sldNum" sz="quarter" idx="4"/>
          </p:nvPr>
        </p:nvSpPr>
        <p:spPr>
          <a:xfrm>
            <a:off x="10617200" y="6486000"/>
            <a:ext cx="762000" cy="228600"/>
          </a:xfrm>
          <a:prstGeom prst="rect">
            <a:avLst/>
          </a:prstGeom>
          <a:noFill/>
        </p:spPr>
        <p:txBody>
          <a:bodyPr wrap="square" lIns="0" tIns="0" rIns="0" bIns="0" rtlCol="0" anchor="ctr"/>
          <a:lstStyle>
            <a:lvl1pPr algn="r" indent="0" marL="0">
              <a:buNone/>
              <a:defRPr lang="en-US" sz="1200" b="0">
                <a:solidFill>
                  <a:srgbClr val="566170"/>
                </a:solidFill>
                <a:latin typeface="JetBrains Mono" pitchFamily="49" charset="0"/>
                <a:ea typeface="JetBrains Mono" pitchFamily="49" charset="-122"/>
                <a:cs typeface="JetBrains Mono" pitchFamily="49" charset="-120"/>
              </a:defRPr>
            </a:lvl1pPr>
          </a:lstStyle>
          <a:p>
            <a:fld id="{B6F15528-21DE-4FAA-801E-634DDDAF4B2B}" type="slidenum">
              <a:rPr lang="en-US"/>
              <a:t>‹#›</a:t>
            </a:fld>
            <a:endParaRPr lang="en-US"/>
          </a:p>
        </p:txBody>
      </p:sp>
      <p:sp>
        <p:nvSpPr>
          <p:cNvPr id="5" name="Footer Placeholder"/>
          <p:cNvSpPr>
            <a:spLocks noGrp="1"/>
          </p:cNvSpPr>
          <p:nvPr>
            <p:ph type="ftr" sz="quarter" idx="3"/>
          </p:nvPr>
        </p:nvSpPr>
        <p:spPr>
          <a:xfrm>
            <a:off x="812800" y="6486000"/>
            <a:ext cx="9601200" cy="228600"/>
          </a:xfrm>
          <a:prstGeom prst="rect">
            <a:avLst/>
          </a:prstGeom>
          <a:noFill/>
        </p:spPr>
        <p:txBody>
          <a:bodyPr wrap="square" lIns="0" tIns="0" rIns="0" bIns="0" rtlCol="0" anchor="ctr"/>
          <a:lstStyle>
            <a:lvl1pPr algn="l" indent="0" marL="0">
              <a:buNone/>
              <a:defRPr lang="en-US" sz="1000">
                <a:solidFill>
                  <a:srgbClr val="566170"/>
                </a:solidFill>
                <a:latin typeface="Plus Jakarta Sans" pitchFamily="34" charset="0"/>
                <a:ea typeface="Plus Jakarta Sans" pitchFamily="34" charset="-122"/>
                <a:cs typeface="Plus Jakarta Sans" pitchFamily="34" charset="-120"/>
              </a:defRPr>
            </a:lvl1p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dt="0"/>
  <p:txStyles>
    <p:titleStyle>
      <a:lvl1pPr algn="l" defTabSz="914400" rtl="0" eaLnBrk="1" latinLnBrk="0" hangingPunct="1">
        <a:lnSpc>
          <a:spcPct val="110000"/>
        </a:lnSpc>
        <a:spcBef>
          <a:spcPct val="0"/>
        </a:spcBef>
        <a:buNone/>
        <a:defRPr sz="3000" b="1" spc="-50" kern="1200">
          <a:solidFill>
            <a:schemeClr val="tx1"/>
          </a:solidFill>
          <a:latin typeface="+mj-lt"/>
          <a:ea typeface="+mj-ea"/>
          <a:cs typeface="+mj-cs"/>
        </a:defRPr>
      </a:lvl1pPr>
    </p:titleStyle>
    <p:bodyStyle>
      <a:lvl1pPr marL="0" indent="0" algn="l" defTabSz="914400" rtl="0" eaLnBrk="1" latinLnBrk="0" hangingPunct="1">
        <a:lnSpc>
          <a:spcPct val="140000"/>
        </a:lnSpc>
        <a:spcBef>
          <a:spcPct val="0"/>
        </a:spcBef>
        <a:buNone/>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ecorative concentric rings with a gradient arc and three highlighted dots">    </p:cNvPr>
          <p:cNvPicPr>
            <a:picLocks noChangeAspect="1"/>
          </p:cNvPicPr>
          <p:nvPr/>
        </p:nvPicPr>
        <p:blipFill>
          <a:blip r:embed="rId1"/>
          <a:srcRect l="0" r="0" t="0" b="0"/>
          <a:stretch/>
        </p:blipFill>
        <p:spPr>
          <a:xfrm>
            <a:off x="6985000" y="0"/>
            <a:ext cx="5207000" cy="4826000"/>
          </a:xfrm>
          <a:prstGeom prst="rect">
            <a:avLst/>
          </a:prstGeom>
        </p:spPr>
      </p:pic>
      <p:sp>
        <p:nvSpPr>
          <p:cNvPr id="3" name="Text 0"/>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A9D6E0"/>
                </a:solidFill>
                <a:latin typeface="JetBrains Mono" pitchFamily="49" charset="0"/>
                <a:ea typeface="JetBrains Mono" pitchFamily="49" charset="-122"/>
                <a:cs typeface="JetBrains Mono" pitchFamily="49" charset="-120"/>
              </a:rPr>
              <a:t>// AI BUILDER · SESSION 3 · COLLEGE DATA</a:t>
            </a:r>
            <a:endParaRPr lang="en-US" sz="1400" dirty="0"/>
          </a:p>
        </p:txBody>
      </p:sp>
      <p:sp>
        <p:nvSpPr>
          <p:cNvPr id="4" name="Text 1"/>
          <p:cNvSpPr/>
          <p:nvPr>
            <p:ph type="title"/>
          </p:nvPr>
        </p:nvSpPr>
        <p:spPr>
          <a:xfrm>
            <a:off x="812800" y="2218730"/>
            <a:ext cx="10883392" cy="977900"/>
          </a:xfrm>
          <a:prstGeom prst="rect">
            <a:avLst/>
          </a:prstGeom>
          <a:noFill/>
          <a:ln/>
        </p:spPr>
        <p:txBody>
          <a:bodyPr wrap="square" lIns="0" tIns="0" rIns="0" bIns="0" rtlCol="0" anchor="t">
            <a:normAutofit/>
          </a:bodyPr>
          <a:lstStyle/>
          <a:p>
            <a:pPr algn="l" indent="0" marL="0">
              <a:lnSpc>
                <a:spcPts val="7500"/>
              </a:lnSpc>
              <a:buNone/>
            </a:pPr>
            <a:r>
              <a:rPr lang="en-US" sz="7500" b="1" i="0" spc="-150" kern="0" dirty="0">
                <a:solidFill>
                  <a:srgbClr val="F7F4EE"/>
                </a:solidFill>
                <a:latin typeface="Plus Jakarta Sans" pitchFamily="34" charset="0"/>
                <a:ea typeface="Plus Jakarta Sans" pitchFamily="34" charset="-122"/>
                <a:cs typeface="Plus Jakarta Sans" pitchFamily="34" charset="-120"/>
              </a:rPr>
              <a:t>Price vs. Payoff</a:t>
            </a:r>
            <a:endParaRPr lang="en-US" sz="7500" dirty="0"/>
          </a:p>
        </p:txBody>
      </p:sp>
      <p:sp>
        <p:nvSpPr>
          <p:cNvPr id="5" name="Text 2"/>
          <p:cNvSpPr/>
          <p:nvPr/>
        </p:nvSpPr>
        <p:spPr>
          <a:xfrm>
            <a:off x="812800" y="3374430"/>
            <a:ext cx="8502650" cy="751814"/>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7F4EE"/>
                </a:solidFill>
                <a:latin typeface="Plus Jakarta Sans" pitchFamily="34" charset="0"/>
                <a:ea typeface="Plus Jakarta Sans" pitchFamily="34" charset="-122"/>
                <a:cs typeface="Plus Jakarta Sans" pitchFamily="34" charset="-120"/>
              </a:rPr>
              <a:t>What three New York-area colleges return per tuition-dollar, and what to check before trusting a low price</a:t>
            </a:r>
            <a:endParaRPr lang="en-US" sz="2200" dirty="0"/>
          </a:p>
        </p:txBody>
      </p:sp>
      <p:sp>
        <p:nvSpPr>
          <p:cNvPr id="6" name="Text 3"/>
          <p:cNvSpPr/>
          <p:nvPr/>
        </p:nvSpPr>
        <p:spPr>
          <a:xfrm>
            <a:off x="812800" y="5257866"/>
            <a:ext cx="197953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4EE"/>
                </a:solidFill>
                <a:latin typeface="Plus Jakarta Sans" pitchFamily="34" charset="0"/>
                <a:ea typeface="Plus Jakarta Sans" pitchFamily="34" charset="-122"/>
                <a:cs typeface="Plus Jakarta Sans" pitchFamily="34" charset="-120"/>
              </a:rPr>
              <a:t>Yvonne Martinez</a:t>
            </a:r>
            <a:endParaRPr lang="en-US" sz="1600" dirty="0"/>
          </a:p>
        </p:txBody>
      </p:sp>
      <p:sp>
        <p:nvSpPr>
          <p:cNvPr id="7" name="Text 4"/>
          <p:cNvSpPr/>
          <p:nvPr/>
        </p:nvSpPr>
        <p:spPr>
          <a:xfrm>
            <a:off x="812800" y="5593093"/>
            <a:ext cx="1700411"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D6E0"/>
                </a:solidFill>
                <a:latin typeface="Plus Jakarta Sans" pitchFamily="34" charset="0"/>
                <a:ea typeface="Plus Jakarta Sans" pitchFamily="34" charset="-122"/>
                <a:cs typeface="Plus Jakarta Sans" pitchFamily="34" charset="-120"/>
              </a:rPr>
              <a:t>October 2026</a:t>
            </a:r>
            <a:endParaRPr lang="en-US" sz="1400" dirty="0"/>
          </a:p>
        </p:txBody>
      </p:sp>
      <p:sp>
        <p:nvSpPr>
          <p:cNvPr id="8" name="Text 5"/>
          <p:cNvSpPr/>
          <p:nvPr/>
        </p:nvSpPr>
        <p:spPr>
          <a:xfrm>
            <a:off x="7953706" y="5389893"/>
            <a:ext cx="3425494" cy="452107"/>
          </a:xfrm>
          <a:prstGeom prst="roundRect">
            <a:avLst>
              <a:gd name="adj" fmla="val 50000"/>
            </a:avLst>
          </a:prstGeom>
          <a:solidFill>
            <a:srgbClr val="F7F4EE"/>
          </a:solidFill>
          <a:ln/>
        </p:spPr>
        <p:txBody>
          <a:bodyPr wrap="none" lIns="0" tIns="0" rIns="0" bIns="0" rtlCol="0" anchor="ctr">
            <a:normAutofit/>
          </a:bodyPr>
          <a:lstStyle/>
          <a:p>
            <a:pPr algn="ctr" indent="0" marL="0">
              <a:lnSpc>
                <a:spcPts val="1960"/>
              </a:lnSpc>
              <a:buNone/>
            </a:pPr>
            <a:r>
              <a:rPr lang="en-US" sz="1400" b="1" dirty="0">
                <a:solidFill>
                  <a:srgbClr val="0F4C5C"/>
                </a:solidFill>
                <a:latin typeface="Plus Jakarta Sans" pitchFamily="34" charset="0"/>
                <a:ea typeface="Plus Jakarta Sans" pitchFamily="34" charset="-122"/>
                <a:cs typeface="Plus Jakarta Sans" pitchFamily="34" charset="-120"/>
              </a:rPr>
              <a:t>For prospective students &amp; families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4C5C"/>
                </a:solidFill>
                <a:latin typeface="JetBrains Mono" pitchFamily="49" charset="0"/>
                <a:ea typeface="JetBrains Mono" pitchFamily="49" charset="-122"/>
                <a:cs typeface="JetBrains Mono" pitchFamily="49" charset="-120"/>
              </a:rPr>
              <a:t>// AGENDA</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202E"/>
                </a:solidFill>
                <a:latin typeface="Plus Jakarta Sans" pitchFamily="34" charset="0"/>
                <a:ea typeface="Plus Jakarta Sans" pitchFamily="34" charset="-122"/>
                <a:cs typeface="Plus Jakarta Sans" pitchFamily="34" charset="-120"/>
              </a:rPr>
              <a:t>The national picture, three schools, one checklist</a:t>
            </a:r>
            <a:endParaRPr lang="en-US" sz="3200" dirty="0"/>
          </a:p>
        </p:txBody>
      </p:sp>
      <p:sp>
        <p:nvSpPr>
          <p:cNvPr id="4" name="Shape 2"/>
          <p:cNvSpPr/>
          <p:nvPr/>
        </p:nvSpPr>
        <p:spPr>
          <a:xfrm>
            <a:off x="815975" y="1882709"/>
            <a:ext cx="10560050" cy="1013023"/>
          </a:xfrm>
          <a:prstGeom prst="roundRect">
            <a:avLst>
              <a:gd name="adj" fmla="val 12223"/>
            </a:avLst>
          </a:prstGeom>
          <a:solidFill>
            <a:srgbClr val="FFFFFF"/>
          </a:solidFill>
          <a:ln w="6350">
            <a:solidFill>
              <a:srgbClr val="B5C7CC"/>
            </a:solidFill>
            <a:prstDash val="solid"/>
          </a:ln>
        </p:spPr>
      </p:sp>
      <p:sp>
        <p:nvSpPr>
          <p:cNvPr id="5" name="Text 3"/>
          <p:cNvSpPr/>
          <p:nvPr/>
        </p:nvSpPr>
        <p:spPr>
          <a:xfrm>
            <a:off x="1071033" y="2140281"/>
            <a:ext cx="685800"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0F4C5C"/>
                </a:solidFill>
                <a:latin typeface="JetBrains Mono" pitchFamily="49" charset="0"/>
                <a:ea typeface="JetBrains Mono" pitchFamily="49" charset="-122"/>
                <a:cs typeface="JetBrains Mono" pitchFamily="49" charset="-120"/>
              </a:rPr>
              <a:t>01</a:t>
            </a:r>
            <a:endParaRPr lang="en-US" sz="2800" dirty="0"/>
          </a:p>
        </p:txBody>
      </p:sp>
      <p:sp>
        <p:nvSpPr>
          <p:cNvPr id="6" name="Shape 4"/>
          <p:cNvSpPr/>
          <p:nvPr/>
        </p:nvSpPr>
        <p:spPr>
          <a:xfrm>
            <a:off x="1960033" y="2109788"/>
            <a:ext cx="558800" cy="558800"/>
          </a:xfrm>
          <a:prstGeom prst="roundRect">
            <a:avLst>
              <a:gd name="adj" fmla="val 50000"/>
            </a:avLst>
          </a:prstGeom>
          <a:solidFill>
            <a:srgbClr val="E6E0FF"/>
          </a:solidFill>
          <a:ln/>
        </p:spPr>
      </p:sp>
      <p:pic>
        <p:nvPicPr>
          <p:cNvPr id="7" name="Image 0" descr="icon">    </p:cNvPr>
          <p:cNvPicPr>
            <a:picLocks noChangeAspect="1"/>
          </p:cNvPicPr>
          <p:nvPr/>
        </p:nvPicPr>
        <p:blipFill>
          <a:blip r:embed="rId1"/>
          <a:srcRect l="0" r="0" t="0" b="0"/>
          <a:stretch/>
        </p:blipFill>
        <p:spPr>
          <a:xfrm>
            <a:off x="2087033" y="2236788"/>
            <a:ext cx="304800" cy="304800"/>
          </a:xfrm>
          <a:prstGeom prst="rect">
            <a:avLst/>
          </a:prstGeom>
        </p:spPr>
      </p:pic>
      <p:sp>
        <p:nvSpPr>
          <p:cNvPr id="8" name="Text 5"/>
          <p:cNvSpPr/>
          <p:nvPr/>
        </p:nvSpPr>
        <p:spPr>
          <a:xfrm>
            <a:off x="2772833" y="2086967"/>
            <a:ext cx="723815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E"/>
                </a:solidFill>
                <a:latin typeface="Plus Jakarta Sans" pitchFamily="34" charset="0"/>
                <a:ea typeface="Plus Jakarta Sans" pitchFamily="34" charset="-122"/>
                <a:cs typeface="Plus Jakarta Sans" pitchFamily="34" charset="-120"/>
              </a:rPr>
              <a:t>The national picture</a:t>
            </a:r>
            <a:endParaRPr lang="en-US" sz="2000" dirty="0"/>
          </a:p>
        </p:txBody>
      </p:sp>
      <p:sp>
        <p:nvSpPr>
          <p:cNvPr id="9" name="Text 6"/>
          <p:cNvSpPr/>
          <p:nvPr/>
        </p:nvSpPr>
        <p:spPr>
          <a:xfrm>
            <a:off x="2772833" y="2442567"/>
            <a:ext cx="7238154"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Plus Jakarta Sans" pitchFamily="34" charset="0"/>
                <a:ea typeface="Plus Jakarta Sans" pitchFamily="34" charset="-122"/>
                <a:cs typeface="Plus Jakarta Sans" pitchFamily="34" charset="-120"/>
              </a:rPr>
              <a:t>College pays on average, but net price, program and completion decide it</a:t>
            </a:r>
            <a:endParaRPr lang="en-US" sz="1400" dirty="0"/>
          </a:p>
        </p:txBody>
      </p:sp>
      <p:sp>
        <p:nvSpPr>
          <p:cNvPr id="10" name="Text 7"/>
          <p:cNvSpPr/>
          <p:nvPr/>
        </p:nvSpPr>
        <p:spPr>
          <a:xfrm>
            <a:off x="10054167" y="2264767"/>
            <a:ext cx="128016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66170"/>
                </a:solidFill>
                <a:latin typeface="JetBrains Mono" pitchFamily="49" charset="0"/>
                <a:ea typeface="JetBrains Mono" pitchFamily="49" charset="-122"/>
                <a:cs typeface="JetBrains Mono" pitchFamily="49" charset="-120"/>
              </a:rPr>
              <a:t>Slides 3–7</a:t>
            </a:r>
            <a:endParaRPr lang="en-US" sz="1400" dirty="0"/>
          </a:p>
        </p:txBody>
      </p:sp>
      <p:sp>
        <p:nvSpPr>
          <p:cNvPr id="11" name="Shape 8"/>
          <p:cNvSpPr/>
          <p:nvPr/>
        </p:nvSpPr>
        <p:spPr>
          <a:xfrm>
            <a:off x="815975" y="3054483"/>
            <a:ext cx="10560050" cy="1013023"/>
          </a:xfrm>
          <a:prstGeom prst="roundRect">
            <a:avLst>
              <a:gd name="adj" fmla="val 12223"/>
            </a:avLst>
          </a:prstGeom>
          <a:solidFill>
            <a:srgbClr val="FFFFFF"/>
          </a:solidFill>
          <a:ln w="6350">
            <a:solidFill>
              <a:srgbClr val="B5C7CC"/>
            </a:solidFill>
            <a:prstDash val="solid"/>
          </a:ln>
        </p:spPr>
      </p:sp>
      <p:sp>
        <p:nvSpPr>
          <p:cNvPr id="12" name="Text 9"/>
          <p:cNvSpPr/>
          <p:nvPr/>
        </p:nvSpPr>
        <p:spPr>
          <a:xfrm>
            <a:off x="1071033" y="3312054"/>
            <a:ext cx="685800"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0F4C5C"/>
                </a:solidFill>
                <a:latin typeface="JetBrains Mono" pitchFamily="49" charset="0"/>
                <a:ea typeface="JetBrains Mono" pitchFamily="49" charset="-122"/>
                <a:cs typeface="JetBrains Mono" pitchFamily="49" charset="-120"/>
              </a:rPr>
              <a:t>02</a:t>
            </a:r>
            <a:endParaRPr lang="en-US" sz="2800" dirty="0"/>
          </a:p>
        </p:txBody>
      </p:sp>
      <p:sp>
        <p:nvSpPr>
          <p:cNvPr id="13" name="Shape 10"/>
          <p:cNvSpPr/>
          <p:nvPr/>
        </p:nvSpPr>
        <p:spPr>
          <a:xfrm>
            <a:off x="1960033" y="3281561"/>
            <a:ext cx="558800" cy="558800"/>
          </a:xfrm>
          <a:prstGeom prst="roundRect">
            <a:avLst>
              <a:gd name="adj" fmla="val 50000"/>
            </a:avLst>
          </a:prstGeom>
          <a:solidFill>
            <a:srgbClr val="FFE3DE"/>
          </a:solidFill>
          <a:ln/>
        </p:spPr>
      </p:sp>
      <p:pic>
        <p:nvPicPr>
          <p:cNvPr id="14" name="Image 1" descr="icon">    </p:cNvPr>
          <p:cNvPicPr>
            <a:picLocks noChangeAspect="1"/>
          </p:cNvPicPr>
          <p:nvPr/>
        </p:nvPicPr>
        <p:blipFill>
          <a:blip r:embed="rId2"/>
          <a:srcRect l="0" r="0" t="0" b="0"/>
          <a:stretch/>
        </p:blipFill>
        <p:spPr>
          <a:xfrm>
            <a:off x="2087033" y="3408561"/>
            <a:ext cx="304800" cy="304800"/>
          </a:xfrm>
          <a:prstGeom prst="rect">
            <a:avLst/>
          </a:prstGeom>
        </p:spPr>
      </p:pic>
      <p:sp>
        <p:nvSpPr>
          <p:cNvPr id="15" name="Text 11"/>
          <p:cNvSpPr/>
          <p:nvPr/>
        </p:nvSpPr>
        <p:spPr>
          <a:xfrm>
            <a:off x="2772833" y="3258741"/>
            <a:ext cx="71282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E"/>
                </a:solidFill>
                <a:latin typeface="Plus Jakarta Sans" pitchFamily="34" charset="0"/>
                <a:ea typeface="Plus Jakarta Sans" pitchFamily="34" charset="-122"/>
                <a:cs typeface="Plus Jakarta Sans" pitchFamily="34" charset="-120"/>
              </a:rPr>
              <a:t>Three schools, three catches</a:t>
            </a:r>
            <a:endParaRPr lang="en-US" sz="2000" dirty="0"/>
          </a:p>
        </p:txBody>
      </p:sp>
      <p:sp>
        <p:nvSpPr>
          <p:cNvPr id="16" name="Text 12"/>
          <p:cNvSpPr/>
          <p:nvPr/>
        </p:nvSpPr>
        <p:spPr>
          <a:xfrm>
            <a:off x="2772833" y="3614341"/>
            <a:ext cx="712826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Plus Jakarta Sans" pitchFamily="34" charset="0"/>
                <a:ea typeface="Plus Jakarta Sans" pitchFamily="34" charset="-122"/>
                <a:cs typeface="Plus Jakarta Sans" pitchFamily="34" charset="-120"/>
              </a:rPr>
              <a:t>NYU’s value, Hunter’s completion rate, Rutgers-Newark’s state baseline</a:t>
            </a:r>
            <a:endParaRPr lang="en-US" sz="1400" dirty="0"/>
          </a:p>
        </p:txBody>
      </p:sp>
      <p:sp>
        <p:nvSpPr>
          <p:cNvPr id="17" name="Text 13"/>
          <p:cNvSpPr/>
          <p:nvPr/>
        </p:nvSpPr>
        <p:spPr>
          <a:xfrm>
            <a:off x="9947473" y="3436541"/>
            <a:ext cx="140819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66170"/>
                </a:solidFill>
                <a:latin typeface="JetBrains Mono" pitchFamily="49" charset="0"/>
                <a:ea typeface="JetBrains Mono" pitchFamily="49" charset="-122"/>
                <a:cs typeface="JetBrains Mono" pitchFamily="49" charset="-120"/>
              </a:rPr>
              <a:t>Slides 8–12</a:t>
            </a:r>
            <a:endParaRPr lang="en-US" sz="1400" dirty="0"/>
          </a:p>
        </p:txBody>
      </p:sp>
      <p:sp>
        <p:nvSpPr>
          <p:cNvPr id="18" name="Shape 14"/>
          <p:cNvSpPr/>
          <p:nvPr/>
        </p:nvSpPr>
        <p:spPr>
          <a:xfrm>
            <a:off x="812800" y="4223081"/>
            <a:ext cx="10566400" cy="1010907"/>
          </a:xfrm>
          <a:prstGeom prst="roundRect">
            <a:avLst>
              <a:gd name="adj" fmla="val 12563"/>
            </a:avLst>
          </a:prstGeom>
          <a:solidFill>
            <a:srgbClr val="0F4C5C"/>
          </a:solidFill>
          <a:ln/>
        </p:spPr>
      </p:sp>
      <p:sp>
        <p:nvSpPr>
          <p:cNvPr id="19" name="Text 15"/>
          <p:cNvSpPr/>
          <p:nvPr/>
        </p:nvSpPr>
        <p:spPr>
          <a:xfrm>
            <a:off x="1066800" y="4479595"/>
            <a:ext cx="685800"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A9D6E0"/>
                </a:solidFill>
                <a:latin typeface="JetBrains Mono" pitchFamily="49" charset="0"/>
                <a:ea typeface="JetBrains Mono" pitchFamily="49" charset="-122"/>
                <a:cs typeface="JetBrains Mono" pitchFamily="49" charset="-120"/>
              </a:rPr>
              <a:t>03</a:t>
            </a:r>
            <a:endParaRPr lang="en-US" sz="2800" dirty="0"/>
          </a:p>
        </p:txBody>
      </p:sp>
      <p:sp>
        <p:nvSpPr>
          <p:cNvPr id="20" name="Shape 16"/>
          <p:cNvSpPr/>
          <p:nvPr/>
        </p:nvSpPr>
        <p:spPr>
          <a:xfrm>
            <a:off x="1955800" y="4449101"/>
            <a:ext cx="558800" cy="558800"/>
          </a:xfrm>
          <a:prstGeom prst="roundRect">
            <a:avLst>
              <a:gd name="adj" fmla="val 50000"/>
            </a:avLst>
          </a:prstGeom>
          <a:solidFill>
            <a:srgbClr val="7B61FF"/>
          </a:solidFill>
          <a:ln/>
        </p:spPr>
      </p:sp>
      <p:pic>
        <p:nvPicPr>
          <p:cNvPr id="21" name="Image 2" descr="icon">    </p:cNvPr>
          <p:cNvPicPr>
            <a:picLocks noChangeAspect="1"/>
          </p:cNvPicPr>
          <p:nvPr/>
        </p:nvPicPr>
        <p:blipFill>
          <a:blip r:embed="rId3"/>
          <a:srcRect l="0" r="0" t="0" b="0"/>
          <a:stretch/>
        </p:blipFill>
        <p:spPr>
          <a:xfrm>
            <a:off x="2082800" y="4576101"/>
            <a:ext cx="304800" cy="304800"/>
          </a:xfrm>
          <a:prstGeom prst="rect">
            <a:avLst/>
          </a:prstGeom>
        </p:spPr>
      </p:pic>
      <p:sp>
        <p:nvSpPr>
          <p:cNvPr id="22" name="Text 17"/>
          <p:cNvSpPr/>
          <p:nvPr/>
        </p:nvSpPr>
        <p:spPr>
          <a:xfrm>
            <a:off x="2768600" y="4426281"/>
            <a:ext cx="702708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4EE"/>
                </a:solidFill>
                <a:latin typeface="Plus Jakarta Sans" pitchFamily="34" charset="0"/>
                <a:ea typeface="Plus Jakarta Sans" pitchFamily="34" charset="-122"/>
                <a:cs typeface="Plus Jakarta Sans" pitchFamily="34" charset="-120"/>
              </a:rPr>
              <a:t>What to check</a:t>
            </a:r>
            <a:endParaRPr lang="en-US" sz="2000" dirty="0"/>
          </a:p>
        </p:txBody>
      </p:sp>
      <p:sp>
        <p:nvSpPr>
          <p:cNvPr id="23" name="Text 18"/>
          <p:cNvSpPr/>
          <p:nvPr/>
        </p:nvSpPr>
        <p:spPr>
          <a:xfrm>
            <a:off x="2768600" y="4781881"/>
            <a:ext cx="702708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4EE"/>
                </a:solidFill>
                <a:latin typeface="Plus Jakarta Sans" pitchFamily="34" charset="0"/>
                <a:ea typeface="Plus Jakarta Sans" pitchFamily="34" charset="-122"/>
                <a:cs typeface="Plus Jakarta Sans" pitchFamily="34" charset="-120"/>
              </a:rPr>
              <a:t>Completion and debt, then four numbers to compare any options</a:t>
            </a:r>
            <a:endParaRPr lang="en-US" sz="1400" dirty="0"/>
          </a:p>
        </p:txBody>
      </p:sp>
      <p:sp>
        <p:nvSpPr>
          <p:cNvPr id="24" name="Text 19"/>
          <p:cNvSpPr/>
          <p:nvPr/>
        </p:nvSpPr>
        <p:spPr>
          <a:xfrm>
            <a:off x="9845014" y="4604081"/>
            <a:ext cx="153418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D6E0"/>
                </a:solidFill>
                <a:latin typeface="JetBrains Mono" pitchFamily="49" charset="0"/>
                <a:ea typeface="JetBrains Mono" pitchFamily="49" charset="-122"/>
                <a:cs typeface="JetBrains Mono" pitchFamily="49" charset="-120"/>
              </a:rPr>
              <a:t>Slides 13–14</a:t>
            </a:r>
            <a:endParaRPr lang="en-US" sz="1400" dirty="0"/>
          </a:p>
        </p:txBody>
      </p:sp>
      <p:sp>
        <p:nvSpPr>
          <p:cNvPr id="25"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Sources: BLS, NCES, College Board, Georgetown CEW, NY Fed, College Scorecard</a:t>
            </a:r>
            <a:endParaRPr lang="en-US" sz="1200" dirty="0"/>
          </a:p>
        </p:txBody>
      </p:sp>
      <p:sp>
        <p:nvSpPr>
          <p:cNvPr id="26" name="Slide Number Placehold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6202E"/>
                </a:solidFill>
                <a:latin typeface="Plus Jakarta Sans" pitchFamily="34" charset="0"/>
                <a:ea typeface="Plus Jakarta Sans" pitchFamily="34" charset="-122"/>
                <a:cs typeface="Plus Jakarta Sans" pitchFamily="34" charset="-120"/>
              </a:rPr>
              <a:t>A bachelor’s degree still pays: about 63% more per week than a high school diploma</a:t>
            </a:r>
            <a:endParaRPr lang="en-US" sz="3000" dirty="0"/>
          </a:p>
        </p:txBody>
      </p:sp>
      <p:sp>
        <p:nvSpPr>
          <p:cNvPr id="3" name="Shape 1"/>
          <p:cNvSpPr/>
          <p:nvPr/>
        </p:nvSpPr>
        <p:spPr>
          <a:xfrm>
            <a:off x="812800" y="1905000"/>
            <a:ext cx="3302000" cy="2306175"/>
          </a:xfrm>
          <a:prstGeom prst="roundRect">
            <a:avLst>
              <a:gd name="adj" fmla="val 6608"/>
            </a:avLst>
          </a:prstGeom>
          <a:gradFill rotWithShape="1">
            <a:gsLst>
              <a:gs pos="0">
                <a:srgbClr val="FF6B5B"/>
              </a:gs>
              <a:gs pos="100000">
                <a:srgbClr val="FFB020"/>
              </a:gs>
            </a:gsLst>
            <a:lin ang="2700000" scaled="0"/>
          </a:gradFill>
          <a:ln/>
        </p:spPr>
      </p:sp>
      <p:sp>
        <p:nvSpPr>
          <p:cNvPr id="4" name="Text 2"/>
          <p:cNvSpPr/>
          <p:nvPr/>
        </p:nvSpPr>
        <p:spPr>
          <a:xfrm>
            <a:off x="1066800" y="21590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6EEF0"/>
                </a:solidFill>
                <a:latin typeface="JetBrains Mono" pitchFamily="49" charset="0"/>
                <a:ea typeface="JetBrains Mono" pitchFamily="49" charset="-122"/>
                <a:cs typeface="JetBrains Mono" pitchFamily="49" charset="-120"/>
              </a:rPr>
              <a:t>WEEKLY EARNINGS PREMIUM</a:t>
            </a:r>
            <a:endParaRPr lang="en-US" sz="1200" dirty="0"/>
          </a:p>
        </p:txBody>
      </p:sp>
      <p:sp>
        <p:nvSpPr>
          <p:cNvPr id="5" name="Text 3"/>
          <p:cNvSpPr/>
          <p:nvPr/>
        </p:nvSpPr>
        <p:spPr>
          <a:xfrm>
            <a:off x="1066800" y="2448520"/>
            <a:ext cx="3048000" cy="977900"/>
          </a:xfrm>
          <a:prstGeom prst="rect">
            <a:avLst/>
          </a:prstGeom>
          <a:noFill/>
          <a:ln/>
        </p:spPr>
        <p:txBody>
          <a:bodyPr wrap="square" lIns="0" tIns="0" rIns="0" bIns="0" rtlCol="0" anchor="t">
            <a:normAutofit/>
          </a:bodyPr>
          <a:lstStyle/>
          <a:p>
            <a:pPr algn="l" indent="0" marL="0">
              <a:lnSpc>
                <a:spcPts val="7500"/>
              </a:lnSpc>
              <a:buNone/>
            </a:pPr>
            <a:r>
              <a:rPr lang="en-US" sz="7500" b="1" spc="-150" kern="0" dirty="0">
                <a:solidFill>
                  <a:srgbClr val="F7F4EE"/>
                </a:solidFill>
                <a:latin typeface="Plus Jakarta Sans" pitchFamily="34" charset="0"/>
                <a:ea typeface="Plus Jakarta Sans" pitchFamily="34" charset="-122"/>
                <a:cs typeface="Plus Jakarta Sans" pitchFamily="34" charset="-120"/>
              </a:rPr>
              <a:t>+63%</a:t>
            </a:r>
            <a:endParaRPr lang="en-US" sz="7500" dirty="0"/>
          </a:p>
        </p:txBody>
      </p:sp>
      <p:sp>
        <p:nvSpPr>
          <p:cNvPr id="6" name="Text 4"/>
          <p:cNvSpPr/>
          <p:nvPr/>
        </p:nvSpPr>
        <p:spPr>
          <a:xfrm>
            <a:off x="1066800" y="3477220"/>
            <a:ext cx="2877820" cy="50535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4EE"/>
                </a:solidFill>
                <a:latin typeface="Plus Jakarta Sans" pitchFamily="34" charset="0"/>
                <a:ea typeface="Plus Jakarta Sans" pitchFamily="34" charset="-122"/>
                <a:cs typeface="Plus Jakarta Sans" pitchFamily="34" charset="-120"/>
              </a:rPr>
              <a:t>$1,578 vs. $966 a week (BLS, 2025)</a:t>
            </a:r>
            <a:endParaRPr lang="en-US" sz="1400" dirty="0"/>
          </a:p>
        </p:txBody>
      </p:sp>
      <p:sp>
        <p:nvSpPr>
          <p:cNvPr id="7" name="Shape 5"/>
          <p:cNvSpPr/>
          <p:nvPr/>
        </p:nvSpPr>
        <p:spPr>
          <a:xfrm>
            <a:off x="4321175" y="1908175"/>
            <a:ext cx="7054850" cy="2299825"/>
          </a:xfrm>
          <a:prstGeom prst="roundRect">
            <a:avLst>
              <a:gd name="adj" fmla="val 6489"/>
            </a:avLst>
          </a:prstGeom>
          <a:solidFill>
            <a:srgbClr val="FFFFFF"/>
          </a:solidFill>
          <a:ln w="6350">
            <a:solidFill>
              <a:srgbClr val="B5C7CC"/>
            </a:solidFill>
            <a:prstDash val="solid"/>
          </a:ln>
        </p:spPr>
      </p:sp>
      <p:sp>
        <p:nvSpPr>
          <p:cNvPr id="8" name="Text 6"/>
          <p:cNvSpPr/>
          <p:nvPr/>
        </p:nvSpPr>
        <p:spPr>
          <a:xfrm>
            <a:off x="4525433" y="2112434"/>
            <a:ext cx="329205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4C5C"/>
                </a:solidFill>
                <a:latin typeface="Plus Jakarta Sans" pitchFamily="34" charset="0"/>
                <a:ea typeface="Plus Jakarta Sans" pitchFamily="34" charset="-122"/>
                <a:cs typeface="Plus Jakarta Sans" pitchFamily="34" charset="-120"/>
              </a:rPr>
              <a:t>Weekly earnings</a:t>
            </a:r>
            <a:endParaRPr lang="en-US" sz="1600" dirty="0"/>
          </a:p>
        </p:txBody>
      </p:sp>
      <p:sp>
        <p:nvSpPr>
          <p:cNvPr id="9" name="Text 7"/>
          <p:cNvSpPr/>
          <p:nvPr/>
        </p:nvSpPr>
        <p:spPr>
          <a:xfrm>
            <a:off x="4525433" y="2483247"/>
            <a:ext cx="110775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Plus Jakarta Sans" pitchFamily="34" charset="0"/>
                <a:ea typeface="Plus Jakarta Sans" pitchFamily="34" charset="-122"/>
                <a:cs typeface="Plus Jakarta Sans" pitchFamily="34" charset="-120"/>
              </a:rPr>
              <a:t>High school</a:t>
            </a:r>
            <a:endParaRPr lang="en-US" sz="1300" dirty="0"/>
          </a:p>
        </p:txBody>
      </p:sp>
      <p:sp>
        <p:nvSpPr>
          <p:cNvPr id="10" name="Text 8"/>
          <p:cNvSpPr/>
          <p:nvPr/>
        </p:nvSpPr>
        <p:spPr>
          <a:xfrm>
            <a:off x="7238365" y="2483247"/>
            <a:ext cx="483235" cy="256514"/>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6202E"/>
                </a:solidFill>
                <a:latin typeface="Plus Jakarta Sans" pitchFamily="34" charset="0"/>
                <a:ea typeface="Plus Jakarta Sans" pitchFamily="34" charset="-122"/>
                <a:cs typeface="Plus Jakarta Sans" pitchFamily="34" charset="-120"/>
              </a:rPr>
              <a:t>$966</a:t>
            </a:r>
            <a:endParaRPr lang="en-US" sz="1300" dirty="0"/>
          </a:p>
        </p:txBody>
      </p:sp>
      <p:sp>
        <p:nvSpPr>
          <p:cNvPr id="11" name="Shape 9"/>
          <p:cNvSpPr/>
          <p:nvPr/>
        </p:nvSpPr>
        <p:spPr>
          <a:xfrm>
            <a:off x="4525433" y="2765161"/>
            <a:ext cx="1974850" cy="228600"/>
          </a:xfrm>
          <a:prstGeom prst="roundRect">
            <a:avLst>
              <a:gd name="adj" fmla="val 50000"/>
            </a:avLst>
          </a:prstGeom>
          <a:solidFill>
            <a:srgbClr val="B5C7CC"/>
          </a:solidFill>
          <a:ln/>
        </p:spPr>
      </p:sp>
      <p:sp>
        <p:nvSpPr>
          <p:cNvPr id="12" name="Text 10"/>
          <p:cNvSpPr/>
          <p:nvPr/>
        </p:nvSpPr>
        <p:spPr>
          <a:xfrm>
            <a:off x="4525433" y="3120761"/>
            <a:ext cx="104846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4C5C"/>
                </a:solidFill>
                <a:latin typeface="Plus Jakarta Sans" pitchFamily="34" charset="0"/>
                <a:ea typeface="Plus Jakarta Sans" pitchFamily="34" charset="-122"/>
                <a:cs typeface="Plus Jakarta Sans" pitchFamily="34" charset="-120"/>
              </a:rPr>
              <a:t>Bachelor’s</a:t>
            </a:r>
            <a:endParaRPr lang="en-US" sz="1300" dirty="0"/>
          </a:p>
        </p:txBody>
      </p:sp>
      <p:sp>
        <p:nvSpPr>
          <p:cNvPr id="13" name="Text 11"/>
          <p:cNvSpPr/>
          <p:nvPr/>
        </p:nvSpPr>
        <p:spPr>
          <a:xfrm>
            <a:off x="7076281" y="3120761"/>
            <a:ext cx="645319" cy="256514"/>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F4C5C"/>
                </a:solidFill>
                <a:latin typeface="Plus Jakarta Sans" pitchFamily="34" charset="0"/>
                <a:ea typeface="Plus Jakarta Sans" pitchFamily="34" charset="-122"/>
                <a:cs typeface="Plus Jakarta Sans" pitchFamily="34" charset="-120"/>
              </a:rPr>
              <a:t>$1,578</a:t>
            </a:r>
            <a:endParaRPr lang="en-US" sz="1300" dirty="0"/>
          </a:p>
        </p:txBody>
      </p:sp>
      <p:sp>
        <p:nvSpPr>
          <p:cNvPr id="14" name="Shape 12"/>
          <p:cNvSpPr/>
          <p:nvPr/>
        </p:nvSpPr>
        <p:spPr>
          <a:xfrm>
            <a:off x="4525433" y="3402674"/>
            <a:ext cx="3225800" cy="228600"/>
          </a:xfrm>
          <a:prstGeom prst="roundRect">
            <a:avLst>
              <a:gd name="adj" fmla="val 50000"/>
            </a:avLst>
          </a:prstGeom>
          <a:gradFill rotWithShape="1">
            <a:gsLst>
              <a:gs pos="0">
                <a:srgbClr val="7B61FF"/>
              </a:gs>
              <a:gs pos="100000">
                <a:srgbClr val="2EA8FF"/>
              </a:gs>
            </a:gsLst>
            <a:lin ang="0" scaled="0"/>
          </a:gradFill>
          <a:ln/>
        </p:spPr>
      </p:sp>
      <p:sp>
        <p:nvSpPr>
          <p:cNvPr id="15" name="Text 13"/>
          <p:cNvSpPr/>
          <p:nvPr/>
        </p:nvSpPr>
        <p:spPr>
          <a:xfrm>
            <a:off x="7975600" y="2112434"/>
            <a:ext cx="329205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4C5C"/>
                </a:solidFill>
                <a:latin typeface="Plus Jakarta Sans" pitchFamily="34" charset="0"/>
                <a:ea typeface="Plus Jakarta Sans" pitchFamily="34" charset="-122"/>
                <a:cs typeface="Plus Jakarta Sans" pitchFamily="34" charset="-120"/>
              </a:rPr>
              <a:t>Unemployment</a:t>
            </a:r>
            <a:endParaRPr lang="en-US" sz="1600" dirty="0"/>
          </a:p>
        </p:txBody>
      </p:sp>
      <p:sp>
        <p:nvSpPr>
          <p:cNvPr id="16" name="Text 14"/>
          <p:cNvSpPr/>
          <p:nvPr/>
        </p:nvSpPr>
        <p:spPr>
          <a:xfrm>
            <a:off x="7975600" y="2483247"/>
            <a:ext cx="110775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Plus Jakarta Sans" pitchFamily="34" charset="0"/>
                <a:ea typeface="Plus Jakarta Sans" pitchFamily="34" charset="-122"/>
                <a:cs typeface="Plus Jakarta Sans" pitchFamily="34" charset="-120"/>
              </a:rPr>
              <a:t>High school</a:t>
            </a:r>
            <a:endParaRPr lang="en-US" sz="1300" dirty="0"/>
          </a:p>
        </p:txBody>
      </p:sp>
      <p:sp>
        <p:nvSpPr>
          <p:cNvPr id="17" name="Text 15"/>
          <p:cNvSpPr/>
          <p:nvPr/>
        </p:nvSpPr>
        <p:spPr>
          <a:xfrm>
            <a:off x="10626540" y="2483247"/>
            <a:ext cx="545227" cy="256514"/>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6202E"/>
                </a:solidFill>
                <a:latin typeface="Plus Jakarta Sans" pitchFamily="34" charset="0"/>
                <a:ea typeface="Plus Jakarta Sans" pitchFamily="34" charset="-122"/>
                <a:cs typeface="Plus Jakarta Sans" pitchFamily="34" charset="-120"/>
              </a:rPr>
              <a:t>4.3%</a:t>
            </a:r>
            <a:endParaRPr lang="en-US" sz="1300" dirty="0"/>
          </a:p>
        </p:txBody>
      </p:sp>
      <p:sp>
        <p:nvSpPr>
          <p:cNvPr id="18" name="Shape 16"/>
          <p:cNvSpPr/>
          <p:nvPr/>
        </p:nvSpPr>
        <p:spPr>
          <a:xfrm>
            <a:off x="7975600" y="2765161"/>
            <a:ext cx="3225800" cy="228600"/>
          </a:xfrm>
          <a:prstGeom prst="roundRect">
            <a:avLst>
              <a:gd name="adj" fmla="val 50000"/>
            </a:avLst>
          </a:prstGeom>
          <a:solidFill>
            <a:srgbClr val="B5C7CC"/>
          </a:solidFill>
          <a:ln/>
        </p:spPr>
      </p:sp>
      <p:sp>
        <p:nvSpPr>
          <p:cNvPr id="19" name="Text 17"/>
          <p:cNvSpPr/>
          <p:nvPr/>
        </p:nvSpPr>
        <p:spPr>
          <a:xfrm>
            <a:off x="7975600" y="3120761"/>
            <a:ext cx="104846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4C5C"/>
                </a:solidFill>
                <a:latin typeface="Plus Jakarta Sans" pitchFamily="34" charset="0"/>
                <a:ea typeface="Plus Jakarta Sans" pitchFamily="34" charset="-122"/>
                <a:cs typeface="Plus Jakarta Sans" pitchFamily="34" charset="-120"/>
              </a:rPr>
              <a:t>Bachelor’s</a:t>
            </a:r>
            <a:endParaRPr lang="en-US" sz="1300" dirty="0"/>
          </a:p>
        </p:txBody>
      </p:sp>
      <p:sp>
        <p:nvSpPr>
          <p:cNvPr id="20" name="Text 18"/>
          <p:cNvSpPr/>
          <p:nvPr/>
        </p:nvSpPr>
        <p:spPr>
          <a:xfrm>
            <a:off x="10635430" y="3120761"/>
            <a:ext cx="536337" cy="256514"/>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F4C5C"/>
                </a:solidFill>
                <a:latin typeface="Plus Jakarta Sans" pitchFamily="34" charset="0"/>
                <a:ea typeface="Plus Jakarta Sans" pitchFamily="34" charset="-122"/>
                <a:cs typeface="Plus Jakarta Sans" pitchFamily="34" charset="-120"/>
              </a:rPr>
              <a:t>2.8%</a:t>
            </a:r>
            <a:endParaRPr lang="en-US" sz="1300" dirty="0"/>
          </a:p>
        </p:txBody>
      </p:sp>
      <p:sp>
        <p:nvSpPr>
          <p:cNvPr id="21" name="Shape 19"/>
          <p:cNvSpPr/>
          <p:nvPr/>
        </p:nvSpPr>
        <p:spPr>
          <a:xfrm>
            <a:off x="7975600" y="3402674"/>
            <a:ext cx="2101850" cy="228600"/>
          </a:xfrm>
          <a:prstGeom prst="roundRect">
            <a:avLst>
              <a:gd name="adj" fmla="val 50000"/>
            </a:avLst>
          </a:prstGeom>
          <a:gradFill rotWithShape="1">
            <a:gsLst>
              <a:gs pos="0">
                <a:srgbClr val="FF6B5B"/>
              </a:gs>
              <a:gs pos="100000">
                <a:srgbClr val="FFB020"/>
              </a:gs>
            </a:gsLst>
            <a:lin ang="0" scaled="0"/>
          </a:gradFill>
          <a:ln/>
        </p:spPr>
      </p:sp>
      <p:sp>
        <p:nvSpPr>
          <p:cNvPr id="22" name="Text 20"/>
          <p:cNvSpPr/>
          <p:nvPr/>
        </p:nvSpPr>
        <p:spPr>
          <a:xfrm>
            <a:off x="812800" y="4465176"/>
            <a:ext cx="10883392"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Plus Jakarta Sans" pitchFamily="34" charset="0"/>
                <a:ea typeface="Plus Jakarta Sans" pitchFamily="34" charset="-122"/>
                <a:cs typeface="Plus Jakarta Sans" pitchFamily="34" charset="-120"/>
              </a:rPr>
              <a:t>The gap shows up for young workers too: full-time workers ages 25–34 with a bachelor’s earned $66,600 a year versus $41,800 for high school completers, 59% more (2022 dollars).</a:t>
            </a:r>
            <a:endParaRPr lang="en-US" sz="14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Sources: BLS, Education Pays (2025, 11-month average excluding October); NCES, Condition of Education</a:t>
            </a:r>
            <a:endParaRPr lang="en-US" sz="1200" dirty="0"/>
          </a:p>
        </p:txBody>
      </p:sp>
      <p:sp>
        <p:nvSpPr>
          <p:cNvPr id="24" name="Slide Number Placehold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807641"/>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6202E"/>
                </a:solidFill>
                <a:latin typeface="Plus Jakarta Sans" pitchFamily="34" charset="0"/>
                <a:ea typeface="Plus Jakarta Sans" pitchFamily="34" charset="-122"/>
                <a:cs typeface="Plus Jakarta Sans" pitchFamily="34" charset="-120"/>
              </a:rPr>
              <a:t>Most families don’t pay sticker price: public four-year net tuition is about $2,300</a:t>
            </a:r>
            <a:endParaRPr lang="en-US" sz="2800" dirty="0"/>
          </a:p>
        </p:txBody>
      </p:sp>
      <p:sp>
        <p:nvSpPr>
          <p:cNvPr id="3" name="Shape 1"/>
          <p:cNvSpPr/>
          <p:nvPr/>
        </p:nvSpPr>
        <p:spPr>
          <a:xfrm>
            <a:off x="815975" y="1826816"/>
            <a:ext cx="10560050" cy="2526837"/>
          </a:xfrm>
          <a:prstGeom prst="roundRect">
            <a:avLst>
              <a:gd name="adj" fmla="val 5906"/>
            </a:avLst>
          </a:prstGeom>
          <a:solidFill>
            <a:srgbClr val="FFFFFF"/>
          </a:solidFill>
          <a:ln w="6350">
            <a:solidFill>
              <a:srgbClr val="B5C7CC"/>
            </a:solidFill>
            <a:prstDash val="solid"/>
          </a:ln>
        </p:spPr>
      </p:sp>
      <p:sp>
        <p:nvSpPr>
          <p:cNvPr id="4" name="Shape 2"/>
          <p:cNvSpPr/>
          <p:nvPr/>
        </p:nvSpPr>
        <p:spPr>
          <a:xfrm>
            <a:off x="1071033" y="2061502"/>
            <a:ext cx="152400" cy="152400"/>
          </a:xfrm>
          <a:prstGeom prst="roundRect">
            <a:avLst>
              <a:gd name="adj" fmla="val 50000"/>
            </a:avLst>
          </a:prstGeom>
          <a:solidFill>
            <a:srgbClr val="3D4A5C"/>
          </a:solidFill>
          <a:ln/>
        </p:spPr>
      </p:sp>
      <p:sp>
        <p:nvSpPr>
          <p:cNvPr id="5" name="Text 3"/>
          <p:cNvSpPr/>
          <p:nvPr/>
        </p:nvSpPr>
        <p:spPr>
          <a:xfrm>
            <a:off x="1299633" y="2031074"/>
            <a:ext cx="21078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Plus Jakarta Sans" pitchFamily="34" charset="0"/>
                <a:ea typeface="Plus Jakarta Sans" pitchFamily="34" charset="-122"/>
                <a:cs typeface="Plus Jakarta Sans" pitchFamily="34" charset="-120"/>
              </a:rPr>
              <a:t>Published tuition and fees</a:t>
            </a:r>
            <a:endParaRPr lang="en-US" sz="1200" dirty="0"/>
          </a:p>
        </p:txBody>
      </p:sp>
      <p:sp>
        <p:nvSpPr>
          <p:cNvPr id="6" name="Shape 4"/>
          <p:cNvSpPr/>
          <p:nvPr/>
        </p:nvSpPr>
        <p:spPr>
          <a:xfrm>
            <a:off x="3407437" y="2061502"/>
            <a:ext cx="152400" cy="152400"/>
          </a:xfrm>
          <a:prstGeom prst="roundRect">
            <a:avLst>
              <a:gd name="adj" fmla="val 50000"/>
            </a:avLst>
          </a:prstGeom>
          <a:solidFill>
            <a:srgbClr val="0F4C5C"/>
          </a:solidFill>
          <a:ln/>
        </p:spPr>
      </p:sp>
      <p:sp>
        <p:nvSpPr>
          <p:cNvPr id="7" name="Text 5"/>
          <p:cNvSpPr/>
          <p:nvPr/>
        </p:nvSpPr>
        <p:spPr>
          <a:xfrm>
            <a:off x="3636037" y="2031074"/>
            <a:ext cx="25719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Plus Jakarta Sans" pitchFamily="34" charset="0"/>
                <a:ea typeface="Plus Jakarta Sans" pitchFamily="34" charset="-122"/>
                <a:cs typeface="Plus Jakarta Sans" pitchFamily="34" charset="-120"/>
              </a:rPr>
              <a:t>Estimated net tuition and fees</a:t>
            </a:r>
            <a:endParaRPr lang="en-US" sz="1200" dirty="0"/>
          </a:p>
        </p:txBody>
      </p:sp>
      <p:sp>
        <p:nvSpPr>
          <p:cNvPr id="8" name="Text 6"/>
          <p:cNvSpPr/>
          <p:nvPr/>
        </p:nvSpPr>
        <p:spPr>
          <a:xfrm>
            <a:off x="1071033" y="2518702"/>
            <a:ext cx="24892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Plus Jakarta Sans" pitchFamily="34" charset="0"/>
                <a:ea typeface="Plus Jakarta Sans" pitchFamily="34" charset="-122"/>
                <a:cs typeface="Plus Jakarta Sans" pitchFamily="34" charset="-120"/>
              </a:rPr>
              <a:t>Public four-year, in-state</a:t>
            </a:r>
            <a:endParaRPr lang="en-US" sz="1400" dirty="0"/>
          </a:p>
        </p:txBody>
      </p:sp>
      <p:pic>
        <p:nvPicPr>
          <p:cNvPr id="9" name="Image 0" descr="Published price $11,950 versus net price about $2,300">    </p:cNvPr>
          <p:cNvPicPr>
            <a:picLocks noChangeAspect="1"/>
          </p:cNvPicPr>
          <p:nvPr/>
        </p:nvPicPr>
        <p:blipFill>
          <a:blip r:embed="rId1"/>
          <a:srcRect l="0" r="0" t="0" b="0"/>
          <a:stretch/>
        </p:blipFill>
        <p:spPr>
          <a:xfrm>
            <a:off x="3560233" y="2371395"/>
            <a:ext cx="6350000" cy="508000"/>
          </a:xfrm>
          <a:prstGeom prst="rect">
            <a:avLst/>
          </a:prstGeom>
        </p:spPr>
      </p:pic>
      <p:sp>
        <p:nvSpPr>
          <p:cNvPr id="10" name="Text 7"/>
          <p:cNvSpPr/>
          <p:nvPr/>
        </p:nvSpPr>
        <p:spPr>
          <a:xfrm>
            <a:off x="3699933" y="2371395"/>
            <a:ext cx="812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E9F7E"/>
                </a:solidFill>
                <a:latin typeface="Plus Jakarta Sans" pitchFamily="34" charset="0"/>
                <a:ea typeface="Plus Jakarta Sans" pitchFamily="34" charset="-122"/>
                <a:cs typeface="Plus Jakarta Sans" pitchFamily="34" charset="-120"/>
              </a:rPr>
              <a:t>$2,300</a:t>
            </a:r>
            <a:endParaRPr lang="en-US" sz="1200" dirty="0"/>
          </a:p>
        </p:txBody>
      </p:sp>
      <p:sp>
        <p:nvSpPr>
          <p:cNvPr id="11" name="Text 8"/>
          <p:cNvSpPr/>
          <p:nvPr/>
        </p:nvSpPr>
        <p:spPr>
          <a:xfrm>
            <a:off x="4925483" y="2371395"/>
            <a:ext cx="812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E04A3A"/>
                </a:solidFill>
                <a:latin typeface="Plus Jakarta Sans" pitchFamily="34" charset="0"/>
                <a:ea typeface="Plus Jakarta Sans" pitchFamily="34" charset="-122"/>
                <a:cs typeface="Plus Jakarta Sans" pitchFamily="34" charset="-120"/>
              </a:rPr>
              <a:t>$11,950</a:t>
            </a:r>
            <a:endParaRPr lang="en-US" sz="1200" dirty="0"/>
          </a:p>
        </p:txBody>
      </p:sp>
      <p:sp>
        <p:nvSpPr>
          <p:cNvPr id="12" name="Text 9"/>
          <p:cNvSpPr/>
          <p:nvPr/>
        </p:nvSpPr>
        <p:spPr>
          <a:xfrm>
            <a:off x="10113434" y="2429802"/>
            <a:ext cx="93678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F4C5C"/>
                </a:solidFill>
                <a:latin typeface="Plus Jakarta Sans" pitchFamily="34" charset="0"/>
                <a:ea typeface="Plus Jakarta Sans" pitchFamily="34" charset="-122"/>
                <a:cs typeface="Plus Jakarta Sans" pitchFamily="34" charset="-120"/>
              </a:rPr>
              <a:t>−81%</a:t>
            </a:r>
            <a:endParaRPr lang="en-US" sz="2200" dirty="0"/>
          </a:p>
        </p:txBody>
      </p:sp>
      <p:sp>
        <p:nvSpPr>
          <p:cNvPr id="13" name="Text 10"/>
          <p:cNvSpPr/>
          <p:nvPr/>
        </p:nvSpPr>
        <p:spPr>
          <a:xfrm>
            <a:off x="1071033" y="3047074"/>
            <a:ext cx="235458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Plus Jakarta Sans" pitchFamily="34" charset="0"/>
                <a:ea typeface="Plus Jakarta Sans" pitchFamily="34" charset="-122"/>
                <a:cs typeface="Plus Jakarta Sans" pitchFamily="34" charset="-120"/>
              </a:rPr>
              <a:t>Private nonprofit four-year</a:t>
            </a:r>
            <a:endParaRPr lang="en-US" sz="1400" dirty="0"/>
          </a:p>
        </p:txBody>
      </p:sp>
      <p:pic>
        <p:nvPicPr>
          <p:cNvPr id="14" name="Image 1" descr="Published price $45,000 versus net price about $16,910">    </p:cNvPr>
          <p:cNvPicPr>
            <a:picLocks noChangeAspect="1"/>
          </p:cNvPicPr>
          <p:nvPr/>
        </p:nvPicPr>
        <p:blipFill>
          <a:blip r:embed="rId2"/>
          <a:srcRect l="0" r="0" t="0" b="0"/>
          <a:stretch/>
        </p:blipFill>
        <p:spPr>
          <a:xfrm>
            <a:off x="3560233" y="3006395"/>
            <a:ext cx="6350000" cy="508000"/>
          </a:xfrm>
          <a:prstGeom prst="rect">
            <a:avLst/>
          </a:prstGeom>
        </p:spPr>
      </p:pic>
      <p:sp>
        <p:nvSpPr>
          <p:cNvPr id="15" name="Text 11"/>
          <p:cNvSpPr/>
          <p:nvPr/>
        </p:nvSpPr>
        <p:spPr>
          <a:xfrm>
            <a:off x="5554133" y="3006395"/>
            <a:ext cx="812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E9F7E"/>
                </a:solidFill>
                <a:latin typeface="Plus Jakarta Sans" pitchFamily="34" charset="0"/>
                <a:ea typeface="Plus Jakarta Sans" pitchFamily="34" charset="-122"/>
                <a:cs typeface="Plus Jakarta Sans" pitchFamily="34" charset="-120"/>
              </a:rPr>
              <a:t>$16,910</a:t>
            </a:r>
            <a:endParaRPr lang="en-US" sz="1200" dirty="0"/>
          </a:p>
        </p:txBody>
      </p:sp>
      <p:sp>
        <p:nvSpPr>
          <p:cNvPr id="16" name="Text 12"/>
          <p:cNvSpPr/>
          <p:nvPr/>
        </p:nvSpPr>
        <p:spPr>
          <a:xfrm>
            <a:off x="9122834" y="3006395"/>
            <a:ext cx="812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E04A3A"/>
                </a:solidFill>
                <a:latin typeface="Plus Jakarta Sans" pitchFamily="34" charset="0"/>
                <a:ea typeface="Plus Jakarta Sans" pitchFamily="34" charset="-122"/>
                <a:cs typeface="Plus Jakarta Sans" pitchFamily="34" charset="-120"/>
              </a:rPr>
              <a:t>$45,000</a:t>
            </a:r>
            <a:endParaRPr lang="en-US" sz="1200" dirty="0"/>
          </a:p>
        </p:txBody>
      </p:sp>
      <p:sp>
        <p:nvSpPr>
          <p:cNvPr id="17" name="Text 13"/>
          <p:cNvSpPr/>
          <p:nvPr/>
        </p:nvSpPr>
        <p:spPr>
          <a:xfrm>
            <a:off x="10113434" y="3064802"/>
            <a:ext cx="98845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F4C5C"/>
                </a:solidFill>
                <a:latin typeface="Plus Jakarta Sans" pitchFamily="34" charset="0"/>
                <a:ea typeface="Plus Jakarta Sans" pitchFamily="34" charset="-122"/>
                <a:cs typeface="Plus Jakarta Sans" pitchFamily="34" charset="-120"/>
              </a:rPr>
              <a:t>−62%</a:t>
            </a:r>
            <a:endParaRPr lang="en-US" sz="2200" dirty="0"/>
          </a:p>
        </p:txBody>
      </p:sp>
      <p:sp>
        <p:nvSpPr>
          <p:cNvPr id="18" name="Text 14"/>
          <p:cNvSpPr/>
          <p:nvPr/>
        </p:nvSpPr>
        <p:spPr>
          <a:xfrm>
            <a:off x="1071033" y="3682074"/>
            <a:ext cx="235458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Plus Jakarta Sans" pitchFamily="34" charset="0"/>
                <a:ea typeface="Plus Jakarta Sans" pitchFamily="34" charset="-122"/>
                <a:cs typeface="Plus Jakarta Sans" pitchFamily="34" charset="-120"/>
              </a:rPr>
              <a:t>Public two-year, in-district</a:t>
            </a:r>
            <a:endParaRPr lang="en-US" sz="1400" dirty="0"/>
          </a:p>
        </p:txBody>
      </p:sp>
      <p:pic>
        <p:nvPicPr>
          <p:cNvPr id="19" name="Image 2" descr="Published price $4,150; grant aid covers tuition and fees on average">    </p:cNvPr>
          <p:cNvPicPr>
            <a:picLocks noChangeAspect="1"/>
          </p:cNvPicPr>
          <p:nvPr/>
        </p:nvPicPr>
        <p:blipFill>
          <a:blip r:embed="rId3"/>
          <a:srcRect l="0" r="0" t="0" b="0"/>
          <a:stretch/>
        </p:blipFill>
        <p:spPr>
          <a:xfrm>
            <a:off x="3560233" y="3641395"/>
            <a:ext cx="6350000" cy="508000"/>
          </a:xfrm>
          <a:prstGeom prst="rect">
            <a:avLst/>
          </a:prstGeom>
        </p:spPr>
      </p:pic>
      <p:sp>
        <p:nvSpPr>
          <p:cNvPr id="20" name="Text 15"/>
          <p:cNvSpPr/>
          <p:nvPr/>
        </p:nvSpPr>
        <p:spPr>
          <a:xfrm>
            <a:off x="3934883" y="3641395"/>
            <a:ext cx="812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E04A3A"/>
                </a:solidFill>
                <a:latin typeface="Plus Jakarta Sans" pitchFamily="34" charset="0"/>
                <a:ea typeface="Plus Jakarta Sans" pitchFamily="34" charset="-122"/>
                <a:cs typeface="Plus Jakarta Sans" pitchFamily="34" charset="-120"/>
              </a:rPr>
              <a:t>$4,150</a:t>
            </a:r>
            <a:endParaRPr lang="en-US" sz="1200" dirty="0"/>
          </a:p>
        </p:txBody>
      </p:sp>
      <p:sp>
        <p:nvSpPr>
          <p:cNvPr id="21" name="Text 16"/>
          <p:cNvSpPr/>
          <p:nvPr/>
        </p:nvSpPr>
        <p:spPr>
          <a:xfrm>
            <a:off x="4576233" y="3869995"/>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Plus Jakarta Sans" pitchFamily="34" charset="0"/>
                <a:ea typeface="Plus Jakarta Sans" pitchFamily="34" charset="-122"/>
                <a:cs typeface="Plus Jakarta Sans" pitchFamily="34" charset="-120"/>
              </a:rPr>
              <a:t>grant aid covers tuition and fees on average</a:t>
            </a:r>
            <a:endParaRPr lang="en-US" sz="1200" dirty="0"/>
          </a:p>
        </p:txBody>
      </p:sp>
      <p:sp>
        <p:nvSpPr>
          <p:cNvPr id="22" name="Text 17"/>
          <p:cNvSpPr/>
          <p:nvPr/>
        </p:nvSpPr>
        <p:spPr>
          <a:xfrm>
            <a:off x="10113434" y="3753182"/>
            <a:ext cx="1000998"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F4C5C"/>
                </a:solidFill>
                <a:latin typeface="Plus Jakarta Sans" pitchFamily="34" charset="0"/>
                <a:ea typeface="Plus Jakarta Sans" pitchFamily="34" charset="-122"/>
                <a:cs typeface="Plus Jakarta Sans" pitchFamily="34" charset="-120"/>
              </a:rPr>
              <a:t>covered</a:t>
            </a:r>
            <a:endParaRPr lang="en-US" sz="1600" dirty="0"/>
          </a:p>
        </p:txBody>
      </p:sp>
      <p:sp>
        <p:nvSpPr>
          <p:cNvPr id="23"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Source: College Board, Trends in College Pricing and Student Aid (2025–26 published prices; net price estimates, first-time full-time students)</a:t>
            </a:r>
            <a:endParaRPr lang="en-US" sz="1200" dirty="0"/>
          </a:p>
        </p:txBody>
      </p:sp>
      <p:sp>
        <p:nvSpPr>
          <p:cNvPr id="24" name="Slide Number Placehold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807641"/>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6202E"/>
                </a:solidFill>
                <a:latin typeface="Plus Jakarta Sans" pitchFamily="34" charset="0"/>
                <a:ea typeface="Plus Jakarta Sans" pitchFamily="34" charset="-122"/>
                <a:cs typeface="Plus Jakarta Sans" pitchFamily="34" charset="-120"/>
              </a:rPr>
              <a:t>At 30% of colleges, more than half of students earn less than a high school graduate ten years out</a:t>
            </a:r>
            <a:endParaRPr lang="en-US" sz="2800" dirty="0"/>
          </a:p>
        </p:txBody>
      </p:sp>
      <p:sp>
        <p:nvSpPr>
          <p:cNvPr id="3" name="Shape 1"/>
          <p:cNvSpPr/>
          <p:nvPr/>
        </p:nvSpPr>
        <p:spPr>
          <a:xfrm>
            <a:off x="815975" y="1852216"/>
            <a:ext cx="3549650" cy="2707151"/>
          </a:xfrm>
          <a:prstGeom prst="roundRect">
            <a:avLst>
              <a:gd name="adj" fmla="val 5512"/>
            </a:avLst>
          </a:prstGeom>
          <a:solidFill>
            <a:srgbClr val="FFFFFF"/>
          </a:solidFill>
          <a:ln w="6350">
            <a:solidFill>
              <a:srgbClr val="B5C7CC"/>
            </a:solidFill>
            <a:prstDash val="solid"/>
          </a:ln>
        </p:spPr>
      </p:sp>
      <p:sp>
        <p:nvSpPr>
          <p:cNvPr id="4" name="Text 2"/>
          <p:cNvSpPr/>
          <p:nvPr/>
        </p:nvSpPr>
        <p:spPr>
          <a:xfrm>
            <a:off x="1528531" y="2056476"/>
            <a:ext cx="2124472" cy="23872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0F4C5C"/>
                </a:solidFill>
                <a:latin typeface="JetBrains Mono" pitchFamily="49" charset="0"/>
                <a:ea typeface="JetBrains Mono" pitchFamily="49" charset="-122"/>
                <a:cs typeface="JetBrains Mono" pitchFamily="49" charset="-120"/>
              </a:rPr>
              <a:t>COLLEGES AFFECTED</a:t>
            </a:r>
            <a:endParaRPr lang="en-US" sz="1200" dirty="0"/>
          </a:p>
        </p:txBody>
      </p:sp>
      <p:pic>
        <p:nvPicPr>
          <p:cNvPr id="5" name="Image 0" descr="Ring gauge: 30% of colleges, 1,233 of about 4,500">    </p:cNvPr>
          <p:cNvPicPr>
            <a:picLocks noChangeAspect="1"/>
          </p:cNvPicPr>
          <p:nvPr/>
        </p:nvPicPr>
        <p:blipFill>
          <a:blip r:embed="rId1"/>
          <a:srcRect l="0" r="0" t="0" b="0"/>
          <a:stretch/>
        </p:blipFill>
        <p:spPr>
          <a:xfrm>
            <a:off x="1765300" y="2371396"/>
            <a:ext cx="1651000" cy="1651000"/>
          </a:xfrm>
          <a:prstGeom prst="rect">
            <a:avLst/>
          </a:prstGeom>
        </p:spPr>
      </p:pic>
      <p:sp>
        <p:nvSpPr>
          <p:cNvPr id="6" name="Text 3"/>
          <p:cNvSpPr/>
          <p:nvPr/>
        </p:nvSpPr>
        <p:spPr>
          <a:xfrm>
            <a:off x="1739900" y="2904796"/>
            <a:ext cx="1701800" cy="431800"/>
          </a:xfrm>
          <a:prstGeom prst="rect">
            <a:avLst/>
          </a:prstGeom>
          <a:noFill/>
          <a:ln/>
        </p:spPr>
        <p:txBody>
          <a:bodyPr wrap="square" lIns="0" tIns="0" rIns="0" bIns="0" rtlCol="0" anchor="t">
            <a:normAutofit/>
          </a:bodyPr>
          <a:lstStyle/>
          <a:p>
            <a:pPr algn="ctr" indent="0" marL="0">
              <a:lnSpc>
                <a:spcPts val="3200"/>
              </a:lnSpc>
              <a:buNone/>
            </a:pPr>
            <a:r>
              <a:rPr lang="en-US" sz="3200" b="1" dirty="0">
                <a:solidFill>
                  <a:srgbClr val="16202E"/>
                </a:solidFill>
                <a:latin typeface="Plus Jakarta Sans" pitchFamily="34" charset="0"/>
                <a:ea typeface="Plus Jakarta Sans" pitchFamily="34" charset="-122"/>
                <a:cs typeface="Plus Jakarta Sans" pitchFamily="34" charset="-120"/>
              </a:rPr>
              <a:t>30%</a:t>
            </a:r>
            <a:endParaRPr lang="en-US" sz="3200" dirty="0"/>
          </a:p>
        </p:txBody>
      </p:sp>
      <p:sp>
        <p:nvSpPr>
          <p:cNvPr id="7" name="Text 4"/>
          <p:cNvSpPr/>
          <p:nvPr/>
        </p:nvSpPr>
        <p:spPr>
          <a:xfrm>
            <a:off x="1739900" y="3361996"/>
            <a:ext cx="170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of colleges</a:t>
            </a:r>
            <a:endParaRPr lang="en-US" sz="1200" dirty="0"/>
          </a:p>
        </p:txBody>
      </p:sp>
      <p:sp>
        <p:nvSpPr>
          <p:cNvPr id="8" name="Text 5"/>
          <p:cNvSpPr/>
          <p:nvPr/>
        </p:nvSpPr>
        <p:spPr>
          <a:xfrm>
            <a:off x="1171416" y="4123996"/>
            <a:ext cx="2838768" cy="256514"/>
          </a:xfrm>
          <a:prstGeom prst="rect">
            <a:avLst/>
          </a:prstGeom>
          <a:noFill/>
          <a:ln/>
        </p:spPr>
        <p:txBody>
          <a:bodyPr wrap="square" lIns="0" tIns="0" rIns="0" bIns="0" rtlCol="0" anchor="t">
            <a:normAutofit/>
          </a:bodyPr>
          <a:lstStyle/>
          <a:p>
            <a:pPr algn="ctr" indent="0" marL="0">
              <a:lnSpc>
                <a:spcPts val="1820"/>
              </a:lnSpc>
              <a:buNone/>
            </a:pPr>
            <a:r>
              <a:rPr lang="en-US" sz="1400" dirty="0">
                <a:solidFill>
                  <a:srgbClr val="3D4A5C"/>
                </a:solidFill>
                <a:latin typeface="Plus Jakarta Sans" pitchFamily="34" charset="0"/>
                <a:ea typeface="Plus Jakarta Sans" pitchFamily="34" charset="-122"/>
                <a:cs typeface="Plus Jakarta Sans" pitchFamily="34" charset="-120"/>
              </a:rPr>
              <a:t>1,233 of about 4,500 ranked</a:t>
            </a:r>
            <a:endParaRPr lang="en-US" sz="1400" dirty="0"/>
          </a:p>
        </p:txBody>
      </p:sp>
      <p:sp>
        <p:nvSpPr>
          <p:cNvPr id="9" name="Shape 6"/>
          <p:cNvSpPr/>
          <p:nvPr/>
        </p:nvSpPr>
        <p:spPr>
          <a:xfrm>
            <a:off x="4575175" y="1852216"/>
            <a:ext cx="6800850" cy="2707151"/>
          </a:xfrm>
          <a:prstGeom prst="roundRect">
            <a:avLst>
              <a:gd name="adj" fmla="val 5512"/>
            </a:avLst>
          </a:prstGeom>
          <a:solidFill>
            <a:srgbClr val="FFFFFF"/>
          </a:solidFill>
          <a:ln w="6350">
            <a:solidFill>
              <a:srgbClr val="B5C7CC"/>
            </a:solidFill>
            <a:prstDash val="solid"/>
          </a:ln>
        </p:spPr>
      </p:sp>
      <p:sp>
        <p:nvSpPr>
          <p:cNvPr id="10" name="Text 7"/>
          <p:cNvSpPr/>
          <p:nvPr/>
        </p:nvSpPr>
        <p:spPr>
          <a:xfrm>
            <a:off x="4830233" y="2056476"/>
            <a:ext cx="647945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4C5C"/>
                </a:solidFill>
                <a:latin typeface="Plus Jakarta Sans" pitchFamily="34" charset="0"/>
                <a:ea typeface="Plus Jakarta Sans" pitchFamily="34" charset="-122"/>
                <a:cs typeface="Plus Jakarta Sans" pitchFamily="34" charset="-120"/>
              </a:rPr>
              <a:t>Ten-year value by program type</a:t>
            </a:r>
            <a:endParaRPr lang="en-US" sz="1800" dirty="0"/>
          </a:p>
        </p:txBody>
      </p:sp>
      <p:sp>
        <p:nvSpPr>
          <p:cNvPr id="11" name="Text 8"/>
          <p:cNvSpPr/>
          <p:nvPr/>
        </p:nvSpPr>
        <p:spPr>
          <a:xfrm>
            <a:off x="4830233" y="2457782"/>
            <a:ext cx="107918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Plus Jakarta Sans" pitchFamily="34" charset="0"/>
                <a:ea typeface="Plus Jakarta Sans" pitchFamily="34" charset="-122"/>
                <a:cs typeface="Plus Jakarta Sans" pitchFamily="34" charset="-120"/>
              </a:rPr>
              <a:t>Certificate</a:t>
            </a:r>
            <a:endParaRPr lang="en-US" sz="1400" dirty="0"/>
          </a:p>
        </p:txBody>
      </p:sp>
      <p:sp>
        <p:nvSpPr>
          <p:cNvPr id="12" name="Text 9"/>
          <p:cNvSpPr/>
          <p:nvPr/>
        </p:nvSpPr>
        <p:spPr>
          <a:xfrm>
            <a:off x="10087822" y="2457782"/>
            <a:ext cx="1033145" cy="274307"/>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6202E"/>
                </a:solidFill>
                <a:latin typeface="Plus Jakarta Sans" pitchFamily="34" charset="0"/>
                <a:ea typeface="Plus Jakarta Sans" pitchFamily="34" charset="-122"/>
                <a:cs typeface="Plus Jakarta Sans" pitchFamily="34" charset="-120"/>
              </a:rPr>
              <a:t>$120,000</a:t>
            </a:r>
            <a:endParaRPr lang="en-US" sz="1400" dirty="0"/>
          </a:p>
        </p:txBody>
      </p:sp>
      <p:sp>
        <p:nvSpPr>
          <p:cNvPr id="13" name="Shape 10"/>
          <p:cNvSpPr/>
          <p:nvPr/>
        </p:nvSpPr>
        <p:spPr>
          <a:xfrm>
            <a:off x="4830233" y="2744788"/>
            <a:ext cx="5448300" cy="203200"/>
          </a:xfrm>
          <a:prstGeom prst="roundRect">
            <a:avLst>
              <a:gd name="adj" fmla="val 50000"/>
            </a:avLst>
          </a:prstGeom>
          <a:solidFill>
            <a:srgbClr val="B5C7CC"/>
          </a:solidFill>
          <a:ln/>
        </p:spPr>
      </p:sp>
      <p:sp>
        <p:nvSpPr>
          <p:cNvPr id="14" name="Text 11"/>
          <p:cNvSpPr/>
          <p:nvPr/>
        </p:nvSpPr>
        <p:spPr>
          <a:xfrm>
            <a:off x="4830233" y="3074988"/>
            <a:ext cx="1168797"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Plus Jakarta Sans" pitchFamily="34" charset="0"/>
                <a:ea typeface="Plus Jakarta Sans" pitchFamily="34" charset="-122"/>
                <a:cs typeface="Plus Jakarta Sans" pitchFamily="34" charset="-120"/>
              </a:rPr>
              <a:t>Associate’s</a:t>
            </a:r>
            <a:endParaRPr lang="en-US" sz="1400" dirty="0"/>
          </a:p>
        </p:txBody>
      </p:sp>
      <p:sp>
        <p:nvSpPr>
          <p:cNvPr id="15" name="Text 12"/>
          <p:cNvSpPr/>
          <p:nvPr/>
        </p:nvSpPr>
        <p:spPr>
          <a:xfrm>
            <a:off x="10134970" y="3074988"/>
            <a:ext cx="985996" cy="274307"/>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6202E"/>
                </a:solidFill>
                <a:latin typeface="Plus Jakarta Sans" pitchFamily="34" charset="0"/>
                <a:ea typeface="Plus Jakarta Sans" pitchFamily="34" charset="-122"/>
                <a:cs typeface="Plus Jakarta Sans" pitchFamily="34" charset="-120"/>
              </a:rPr>
              <a:t>$141,000</a:t>
            </a:r>
            <a:endParaRPr lang="en-US" sz="1400" dirty="0"/>
          </a:p>
        </p:txBody>
      </p:sp>
      <p:sp>
        <p:nvSpPr>
          <p:cNvPr id="16" name="Shape 13"/>
          <p:cNvSpPr/>
          <p:nvPr/>
        </p:nvSpPr>
        <p:spPr>
          <a:xfrm>
            <a:off x="4830233" y="3361996"/>
            <a:ext cx="6400800" cy="203200"/>
          </a:xfrm>
          <a:prstGeom prst="roundRect">
            <a:avLst>
              <a:gd name="adj" fmla="val 50000"/>
            </a:avLst>
          </a:prstGeom>
          <a:solidFill>
            <a:srgbClr val="B5C7CC"/>
          </a:solidFill>
          <a:ln/>
        </p:spPr>
      </p:sp>
      <p:sp>
        <p:nvSpPr>
          <p:cNvPr id="17" name="Text 14"/>
          <p:cNvSpPr/>
          <p:nvPr/>
        </p:nvSpPr>
        <p:spPr>
          <a:xfrm>
            <a:off x="4830233" y="3692196"/>
            <a:ext cx="1129109"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4C5C"/>
                </a:solidFill>
                <a:latin typeface="Plus Jakarta Sans" pitchFamily="34" charset="0"/>
                <a:ea typeface="Plus Jakarta Sans" pitchFamily="34" charset="-122"/>
                <a:cs typeface="Plus Jakarta Sans" pitchFamily="34" charset="-120"/>
              </a:rPr>
              <a:t>Bachelor’s</a:t>
            </a:r>
            <a:endParaRPr lang="en-US" sz="1400" dirty="0"/>
          </a:p>
        </p:txBody>
      </p:sp>
      <p:sp>
        <p:nvSpPr>
          <p:cNvPr id="18" name="Text 15"/>
          <p:cNvSpPr/>
          <p:nvPr/>
        </p:nvSpPr>
        <p:spPr>
          <a:xfrm>
            <a:off x="10244032" y="3692196"/>
            <a:ext cx="876935" cy="274307"/>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0F4C5C"/>
                </a:solidFill>
                <a:latin typeface="Plus Jakarta Sans" pitchFamily="34" charset="0"/>
                <a:ea typeface="Plus Jakarta Sans" pitchFamily="34" charset="-122"/>
                <a:cs typeface="Plus Jakarta Sans" pitchFamily="34" charset="-120"/>
              </a:rPr>
              <a:t>$71,000</a:t>
            </a:r>
            <a:endParaRPr lang="en-US" sz="1400" dirty="0"/>
          </a:p>
        </p:txBody>
      </p:sp>
      <p:sp>
        <p:nvSpPr>
          <p:cNvPr id="19" name="Shape 16"/>
          <p:cNvSpPr/>
          <p:nvPr/>
        </p:nvSpPr>
        <p:spPr>
          <a:xfrm>
            <a:off x="4830233" y="3979202"/>
            <a:ext cx="3225800" cy="203200"/>
          </a:xfrm>
          <a:prstGeom prst="roundRect">
            <a:avLst>
              <a:gd name="adj" fmla="val 50000"/>
            </a:avLst>
          </a:prstGeom>
          <a:gradFill rotWithShape="1">
            <a:gsLst>
              <a:gs pos="0">
                <a:srgbClr val="7B61FF"/>
              </a:gs>
              <a:gs pos="100000">
                <a:srgbClr val="2EA8FF"/>
              </a:gs>
            </a:gsLst>
            <a:lin ang="0" scaled="0"/>
          </a:gradFill>
          <a:ln/>
        </p:spPr>
      </p:sp>
      <p:sp>
        <p:nvSpPr>
          <p:cNvPr id="20" name="Text 17"/>
          <p:cNvSpPr/>
          <p:nvPr/>
        </p:nvSpPr>
        <p:spPr>
          <a:xfrm>
            <a:off x="812800" y="4816543"/>
            <a:ext cx="10883392"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Plus Jakarta Sans" pitchFamily="34" charset="0"/>
                <a:ea typeface="Plus Jakarta Sans" pitchFamily="34" charset="-122"/>
                <a:cs typeface="Plus Jakarta Sans" pitchFamily="34" charset="-120"/>
              </a:rPr>
              <a:t>The order flips over a career: at 40 years, bachelor’s programs lead with a median value of $864,000. The payoff depends on the program and the time horizon.</a:t>
            </a:r>
            <a:endParaRPr lang="en-US" sz="1400" dirty="0"/>
          </a:p>
        </p:txBody>
      </p:sp>
      <p:sp>
        <p:nvSpPr>
          <p:cNvPr id="21"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Source: Georgetown CEW ROI database (1,233 colleges); median net present value by degree level, A First Try at ROI (2019)</a:t>
            </a:r>
            <a:endParaRPr lang="en-US" sz="1200" dirty="0"/>
          </a:p>
        </p:txBody>
      </p:sp>
      <p:sp>
        <p:nvSpPr>
          <p:cNvPr id="22" name="Slide Number Placehold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6202E"/>
                </a:solidFill>
                <a:latin typeface="Plus Jakarta Sans" pitchFamily="34" charset="0"/>
                <a:ea typeface="Plus Jakarta Sans" pitchFamily="34" charset="-122"/>
                <a:cs typeface="Plus Jakarta Sans" pitchFamily="34" charset="-120"/>
              </a:rPr>
              <a:t>Finishing is the swing factor: only 64% of bachelor’s students graduate within six years</a:t>
            </a:r>
            <a:endParaRPr lang="en-US" sz="3000" dirty="0"/>
          </a:p>
        </p:txBody>
      </p:sp>
      <p:sp>
        <p:nvSpPr>
          <p:cNvPr id="3" name="Shape 1"/>
          <p:cNvSpPr/>
          <p:nvPr/>
        </p:nvSpPr>
        <p:spPr>
          <a:xfrm>
            <a:off x="815975" y="1882775"/>
            <a:ext cx="3041650" cy="3425958"/>
          </a:xfrm>
          <a:prstGeom prst="roundRect">
            <a:avLst>
              <a:gd name="adj" fmla="val 4906"/>
            </a:avLst>
          </a:prstGeom>
          <a:solidFill>
            <a:srgbClr val="FFFFFF"/>
          </a:solidFill>
          <a:ln w="6350">
            <a:solidFill>
              <a:srgbClr val="B5C7CC"/>
            </a:solidFill>
            <a:prstDash val="solid"/>
          </a:ln>
        </p:spPr>
      </p:sp>
      <p:sp>
        <p:nvSpPr>
          <p:cNvPr id="4" name="Text 2"/>
          <p:cNvSpPr/>
          <p:nvPr/>
        </p:nvSpPr>
        <p:spPr>
          <a:xfrm>
            <a:off x="1071033" y="2061635"/>
            <a:ext cx="2607479"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5B43D6"/>
                </a:solidFill>
                <a:latin typeface="Plus Jakarta Sans" pitchFamily="34" charset="0"/>
                <a:ea typeface="Plus Jakarta Sans" pitchFamily="34" charset="-122"/>
                <a:cs typeface="Plus Jakarta Sans" pitchFamily="34" charset="-120"/>
              </a:rPr>
              <a:t>64 of every 100 students finish</a:t>
            </a:r>
            <a:endParaRPr lang="en-US" sz="1400" dirty="0"/>
          </a:p>
        </p:txBody>
      </p:sp>
      <p:pic>
        <p:nvPicPr>
          <p:cNvPr id="5" name="Image 0" descr="Dot grid of 100 students: 64 filled for those who graduate within six years, 36 empty">    </p:cNvPr>
          <p:cNvPicPr>
            <a:picLocks noChangeAspect="1"/>
          </p:cNvPicPr>
          <p:nvPr/>
        </p:nvPicPr>
        <p:blipFill>
          <a:blip r:embed="rId1"/>
          <a:srcRect l="0" r="0" t="0" b="0"/>
          <a:stretch/>
        </p:blipFill>
        <p:spPr>
          <a:xfrm>
            <a:off x="1071033" y="2589876"/>
            <a:ext cx="2540000" cy="2540000"/>
          </a:xfrm>
          <a:prstGeom prst="rect">
            <a:avLst/>
          </a:prstGeom>
        </p:spPr>
      </p:pic>
      <p:sp>
        <p:nvSpPr>
          <p:cNvPr id="6" name="Shape 3"/>
          <p:cNvSpPr/>
          <p:nvPr/>
        </p:nvSpPr>
        <p:spPr>
          <a:xfrm>
            <a:off x="4067175" y="1882775"/>
            <a:ext cx="7308850" cy="3425958"/>
          </a:xfrm>
          <a:prstGeom prst="roundRect">
            <a:avLst>
              <a:gd name="adj" fmla="val 4356"/>
            </a:avLst>
          </a:prstGeom>
          <a:solidFill>
            <a:srgbClr val="FFFFFF"/>
          </a:solidFill>
          <a:ln w="6350">
            <a:solidFill>
              <a:srgbClr val="B5C7CC"/>
            </a:solidFill>
            <a:prstDash val="solid"/>
          </a:ln>
        </p:spPr>
      </p:sp>
      <p:sp>
        <p:nvSpPr>
          <p:cNvPr id="7" name="Text 4"/>
          <p:cNvSpPr/>
          <p:nvPr/>
        </p:nvSpPr>
        <p:spPr>
          <a:xfrm>
            <a:off x="4322233" y="2061635"/>
            <a:ext cx="700269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4C5C"/>
                </a:solidFill>
                <a:latin typeface="Plus Jakarta Sans" pitchFamily="34" charset="0"/>
                <a:ea typeface="Plus Jakarta Sans" pitchFamily="34" charset="-122"/>
                <a:cs typeface="Plus Jakarta Sans" pitchFamily="34" charset="-120"/>
              </a:rPr>
              <a:t>Six-year graduation rate by school type</a:t>
            </a:r>
            <a:endParaRPr lang="en-US" sz="1600" dirty="0"/>
          </a:p>
        </p:txBody>
      </p:sp>
      <p:sp>
        <p:nvSpPr>
          <p:cNvPr id="8" name="Text 5"/>
          <p:cNvSpPr/>
          <p:nvPr/>
        </p:nvSpPr>
        <p:spPr>
          <a:xfrm>
            <a:off x="4322233" y="2483247"/>
            <a:ext cx="255500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43D6"/>
                </a:solidFill>
                <a:latin typeface="Plus Jakarta Sans" pitchFamily="34" charset="0"/>
                <a:ea typeface="Plus Jakarta Sans" pitchFamily="34" charset="-122"/>
                <a:cs typeface="Plus Jakarta Sans" pitchFamily="34" charset="-120"/>
              </a:rPr>
              <a:t>All four-year institutions</a:t>
            </a:r>
            <a:endParaRPr lang="en-US" sz="1400" dirty="0"/>
          </a:p>
        </p:txBody>
      </p:sp>
      <p:sp>
        <p:nvSpPr>
          <p:cNvPr id="9" name="Text 6"/>
          <p:cNvSpPr/>
          <p:nvPr/>
        </p:nvSpPr>
        <p:spPr>
          <a:xfrm>
            <a:off x="10622492" y="2483247"/>
            <a:ext cx="498475" cy="274307"/>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5B43D6"/>
                </a:solidFill>
                <a:latin typeface="Plus Jakarta Sans" pitchFamily="34" charset="0"/>
                <a:ea typeface="Plus Jakarta Sans" pitchFamily="34" charset="-122"/>
                <a:cs typeface="Plus Jakarta Sans" pitchFamily="34" charset="-120"/>
              </a:rPr>
              <a:t>64%</a:t>
            </a:r>
            <a:endParaRPr lang="en-US" sz="1400" dirty="0"/>
          </a:p>
        </p:txBody>
      </p:sp>
      <p:sp>
        <p:nvSpPr>
          <p:cNvPr id="10" name="Shape 7"/>
          <p:cNvSpPr/>
          <p:nvPr/>
        </p:nvSpPr>
        <p:spPr>
          <a:xfrm>
            <a:off x="4322233" y="2852806"/>
            <a:ext cx="4064000" cy="88900"/>
          </a:xfrm>
          <a:prstGeom prst="roundRect">
            <a:avLst>
              <a:gd name="adj" fmla="val 50000"/>
            </a:avLst>
          </a:prstGeom>
          <a:solidFill>
            <a:srgbClr val="7B61FF"/>
          </a:solidFill>
          <a:ln/>
        </p:spPr>
      </p:sp>
      <p:sp>
        <p:nvSpPr>
          <p:cNvPr id="11" name="Shape 8"/>
          <p:cNvSpPr/>
          <p:nvPr/>
        </p:nvSpPr>
        <p:spPr>
          <a:xfrm>
            <a:off x="8386234" y="2782956"/>
            <a:ext cx="228600" cy="228600"/>
          </a:xfrm>
          <a:prstGeom prst="roundRect">
            <a:avLst>
              <a:gd name="adj" fmla="val 50000"/>
            </a:avLst>
          </a:prstGeom>
          <a:solidFill>
            <a:srgbClr val="7B61FF"/>
          </a:solidFill>
          <a:ln/>
        </p:spPr>
      </p:sp>
      <p:sp>
        <p:nvSpPr>
          <p:cNvPr id="12" name="Text 9"/>
          <p:cNvSpPr/>
          <p:nvPr/>
        </p:nvSpPr>
        <p:spPr>
          <a:xfrm>
            <a:off x="4322233" y="3189356"/>
            <a:ext cx="627539"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Plus Jakarta Sans" pitchFamily="34" charset="0"/>
                <a:ea typeface="Plus Jakarta Sans" pitchFamily="34" charset="-122"/>
                <a:cs typeface="Plus Jakarta Sans" pitchFamily="34" charset="-120"/>
              </a:rPr>
              <a:t>Public</a:t>
            </a:r>
            <a:endParaRPr lang="en-US" sz="1400" dirty="0"/>
          </a:p>
        </p:txBody>
      </p:sp>
      <p:sp>
        <p:nvSpPr>
          <p:cNvPr id="13" name="Text 10"/>
          <p:cNvSpPr/>
          <p:nvPr/>
        </p:nvSpPr>
        <p:spPr>
          <a:xfrm>
            <a:off x="10633208" y="3189356"/>
            <a:ext cx="487759" cy="274307"/>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6202E"/>
                </a:solidFill>
                <a:latin typeface="Plus Jakarta Sans" pitchFamily="34" charset="0"/>
                <a:ea typeface="Plus Jakarta Sans" pitchFamily="34" charset="-122"/>
                <a:cs typeface="Plus Jakarta Sans" pitchFamily="34" charset="-120"/>
              </a:rPr>
              <a:t>63%</a:t>
            </a:r>
            <a:endParaRPr lang="en-US" sz="1400" dirty="0"/>
          </a:p>
        </p:txBody>
      </p:sp>
      <p:sp>
        <p:nvSpPr>
          <p:cNvPr id="14" name="Shape 11"/>
          <p:cNvSpPr/>
          <p:nvPr/>
        </p:nvSpPr>
        <p:spPr>
          <a:xfrm>
            <a:off x="4322233" y="3558911"/>
            <a:ext cx="4000500" cy="88900"/>
          </a:xfrm>
          <a:prstGeom prst="roundRect">
            <a:avLst>
              <a:gd name="adj" fmla="val 50000"/>
            </a:avLst>
          </a:prstGeom>
          <a:solidFill>
            <a:srgbClr val="2EA8FF"/>
          </a:solidFill>
          <a:ln/>
        </p:spPr>
      </p:sp>
      <p:sp>
        <p:nvSpPr>
          <p:cNvPr id="15" name="Shape 12"/>
          <p:cNvSpPr/>
          <p:nvPr/>
        </p:nvSpPr>
        <p:spPr>
          <a:xfrm>
            <a:off x="8322734" y="3489061"/>
            <a:ext cx="228600" cy="228600"/>
          </a:xfrm>
          <a:prstGeom prst="roundRect">
            <a:avLst>
              <a:gd name="adj" fmla="val 50000"/>
            </a:avLst>
          </a:prstGeom>
          <a:solidFill>
            <a:srgbClr val="2EA8FF"/>
          </a:solidFill>
          <a:ln/>
        </p:spPr>
      </p:sp>
      <p:sp>
        <p:nvSpPr>
          <p:cNvPr id="16" name="Text 13"/>
          <p:cNvSpPr/>
          <p:nvPr/>
        </p:nvSpPr>
        <p:spPr>
          <a:xfrm>
            <a:off x="4322233" y="3895461"/>
            <a:ext cx="167132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Plus Jakarta Sans" pitchFamily="34" charset="0"/>
                <a:ea typeface="Plus Jakarta Sans" pitchFamily="34" charset="-122"/>
                <a:cs typeface="Plus Jakarta Sans" pitchFamily="34" charset="-120"/>
              </a:rPr>
              <a:t>Private nonprofit</a:t>
            </a:r>
            <a:endParaRPr lang="en-US" sz="1400" dirty="0"/>
          </a:p>
        </p:txBody>
      </p:sp>
      <p:sp>
        <p:nvSpPr>
          <p:cNvPr id="17" name="Text 14"/>
          <p:cNvSpPr/>
          <p:nvPr/>
        </p:nvSpPr>
        <p:spPr>
          <a:xfrm>
            <a:off x="10628683" y="3895461"/>
            <a:ext cx="492284" cy="274307"/>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6202E"/>
                </a:solidFill>
                <a:latin typeface="Plus Jakarta Sans" pitchFamily="34" charset="0"/>
                <a:ea typeface="Plus Jakarta Sans" pitchFamily="34" charset="-122"/>
                <a:cs typeface="Plus Jakarta Sans" pitchFamily="34" charset="-120"/>
              </a:rPr>
              <a:t>68%</a:t>
            </a:r>
            <a:endParaRPr lang="en-US" sz="1400" dirty="0"/>
          </a:p>
        </p:txBody>
      </p:sp>
      <p:sp>
        <p:nvSpPr>
          <p:cNvPr id="18" name="Shape 15"/>
          <p:cNvSpPr/>
          <p:nvPr/>
        </p:nvSpPr>
        <p:spPr>
          <a:xfrm>
            <a:off x="4322233" y="4265017"/>
            <a:ext cx="4318000" cy="88900"/>
          </a:xfrm>
          <a:prstGeom prst="roundRect">
            <a:avLst>
              <a:gd name="adj" fmla="val 50000"/>
            </a:avLst>
          </a:prstGeom>
          <a:solidFill>
            <a:srgbClr val="19C39B"/>
          </a:solidFill>
          <a:ln/>
        </p:spPr>
      </p:sp>
      <p:sp>
        <p:nvSpPr>
          <p:cNvPr id="19" name="Shape 16"/>
          <p:cNvSpPr/>
          <p:nvPr/>
        </p:nvSpPr>
        <p:spPr>
          <a:xfrm>
            <a:off x="8640234" y="4195167"/>
            <a:ext cx="228600" cy="228600"/>
          </a:xfrm>
          <a:prstGeom prst="roundRect">
            <a:avLst>
              <a:gd name="adj" fmla="val 50000"/>
            </a:avLst>
          </a:prstGeom>
          <a:solidFill>
            <a:srgbClr val="19C39B"/>
          </a:solidFill>
          <a:ln/>
        </p:spPr>
      </p:sp>
      <p:sp>
        <p:nvSpPr>
          <p:cNvPr id="20" name="Text 17"/>
          <p:cNvSpPr/>
          <p:nvPr/>
        </p:nvSpPr>
        <p:spPr>
          <a:xfrm>
            <a:off x="4322233" y="4601567"/>
            <a:ext cx="1682591"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Plus Jakarta Sans" pitchFamily="34" charset="0"/>
                <a:ea typeface="Plus Jakarta Sans" pitchFamily="34" charset="-122"/>
                <a:cs typeface="Plus Jakarta Sans" pitchFamily="34" charset="-120"/>
              </a:rPr>
              <a:t>Private for-profit</a:t>
            </a:r>
            <a:endParaRPr lang="en-US" sz="1400" dirty="0"/>
          </a:p>
        </p:txBody>
      </p:sp>
      <p:sp>
        <p:nvSpPr>
          <p:cNvPr id="21" name="Text 18"/>
          <p:cNvSpPr/>
          <p:nvPr/>
        </p:nvSpPr>
        <p:spPr>
          <a:xfrm>
            <a:off x="10636621" y="4601567"/>
            <a:ext cx="484346" cy="274307"/>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6202E"/>
                </a:solidFill>
                <a:latin typeface="Plus Jakarta Sans" pitchFamily="34" charset="0"/>
                <a:ea typeface="Plus Jakarta Sans" pitchFamily="34" charset="-122"/>
                <a:cs typeface="Plus Jakarta Sans" pitchFamily="34" charset="-120"/>
              </a:rPr>
              <a:t>29%</a:t>
            </a:r>
            <a:endParaRPr lang="en-US" sz="1400" dirty="0"/>
          </a:p>
        </p:txBody>
      </p:sp>
      <p:sp>
        <p:nvSpPr>
          <p:cNvPr id="22" name="Shape 19"/>
          <p:cNvSpPr/>
          <p:nvPr/>
        </p:nvSpPr>
        <p:spPr>
          <a:xfrm>
            <a:off x="4322233" y="4971126"/>
            <a:ext cx="1841500" cy="88900"/>
          </a:xfrm>
          <a:prstGeom prst="roundRect">
            <a:avLst>
              <a:gd name="adj" fmla="val 50000"/>
            </a:avLst>
          </a:prstGeom>
          <a:solidFill>
            <a:srgbClr val="FF6B5B"/>
          </a:solidFill>
          <a:ln/>
        </p:spPr>
      </p:sp>
      <p:sp>
        <p:nvSpPr>
          <p:cNvPr id="23" name="Shape 20"/>
          <p:cNvSpPr/>
          <p:nvPr/>
        </p:nvSpPr>
        <p:spPr>
          <a:xfrm>
            <a:off x="6163733" y="4901276"/>
            <a:ext cx="228600" cy="228600"/>
          </a:xfrm>
          <a:prstGeom prst="roundRect">
            <a:avLst>
              <a:gd name="adj" fmla="val 50000"/>
            </a:avLst>
          </a:prstGeom>
          <a:solidFill>
            <a:srgbClr val="FF6B5B"/>
          </a:solidFill>
          <a:ln/>
        </p:spPr>
      </p:sp>
      <p:sp>
        <p:nvSpPr>
          <p:cNvPr id="24" name="Text 21"/>
          <p:cNvSpPr/>
          <p:nvPr/>
        </p:nvSpPr>
        <p:spPr>
          <a:xfrm>
            <a:off x="812800" y="5540508"/>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Plus Jakarta Sans" pitchFamily="34" charset="0"/>
                <a:ea typeface="Plus Jakarta Sans" pitchFamily="34" charset="-122"/>
                <a:cs typeface="Plus Jakarta Sans" pitchFamily="34" charset="-120"/>
              </a:rPr>
              <a:t>Ask each school for its graduation rate before comparing prices.</a:t>
            </a:r>
            <a:endParaRPr lang="en-US" sz="1400" dirty="0"/>
          </a:p>
        </p:txBody>
      </p:sp>
      <p:sp>
        <p:nvSpPr>
          <p:cNvPr id="25"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Source: NCES, six-year graduation rate, first-time full-time bachelor’s students who started in fall 2014 (graduating from the same school)</a:t>
            </a:r>
            <a:endParaRPr lang="en-US" sz="1200" dirty="0"/>
          </a:p>
        </p:txBody>
      </p:sp>
      <p:sp>
        <p:nvSpPr>
          <p:cNvPr id="26" name="Slide Number Placehold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6202E"/>
                </a:solidFill>
                <a:latin typeface="Plus Jakarta Sans" pitchFamily="34" charset="0"/>
                <a:ea typeface="Plus Jakarta Sans" pitchFamily="34" charset="-122"/>
                <a:cs typeface="Plus Jakarta Sans" pitchFamily="34" charset="-120"/>
              </a:rPr>
              <a:t>Even a finished degree carries risk: 42% of recent graduates are underemployed</a:t>
            </a:r>
            <a:endParaRPr lang="en-US" sz="3000" dirty="0"/>
          </a:p>
        </p:txBody>
      </p:sp>
      <p:sp>
        <p:nvSpPr>
          <p:cNvPr id="3" name="Shape 1"/>
          <p:cNvSpPr/>
          <p:nvPr/>
        </p:nvSpPr>
        <p:spPr>
          <a:xfrm>
            <a:off x="815975" y="1882775"/>
            <a:ext cx="3383095" cy="2605551"/>
          </a:xfrm>
          <a:prstGeom prst="roundRect">
            <a:avLst>
              <a:gd name="adj" fmla="val 5727"/>
            </a:avLst>
          </a:prstGeom>
          <a:solidFill>
            <a:srgbClr val="FFFFFF"/>
          </a:solidFill>
          <a:ln w="6350">
            <a:solidFill>
              <a:srgbClr val="B5C7CC"/>
            </a:solidFill>
            <a:prstDash val="solid"/>
          </a:ln>
        </p:spPr>
      </p:sp>
      <p:sp>
        <p:nvSpPr>
          <p:cNvPr id="4" name="Text 2"/>
          <p:cNvSpPr/>
          <p:nvPr/>
        </p:nvSpPr>
        <p:spPr>
          <a:xfrm>
            <a:off x="1757674" y="2061635"/>
            <a:ext cx="1499632" cy="23872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0F4C5C"/>
                </a:solidFill>
                <a:latin typeface="JetBrains Mono" pitchFamily="49" charset="0"/>
                <a:ea typeface="JetBrains Mono" pitchFamily="49" charset="-122"/>
                <a:cs typeface="JetBrains Mono" pitchFamily="49" charset="-120"/>
              </a:rPr>
              <a:t>UNEMPLOYMENT</a:t>
            </a:r>
            <a:endParaRPr lang="en-US" sz="1200" dirty="0"/>
          </a:p>
        </p:txBody>
      </p:sp>
      <p:pic>
        <p:nvPicPr>
          <p:cNvPr id="5" name="Image 0" descr="Ring gauge: about 5.6% of recent graduates unemployed">    </p:cNvPr>
          <p:cNvPicPr>
            <a:picLocks noChangeAspect="1"/>
          </p:cNvPicPr>
          <p:nvPr/>
        </p:nvPicPr>
        <p:blipFill>
          <a:blip r:embed="rId1"/>
          <a:srcRect l="0" r="0" t="0" b="0"/>
          <a:stretch/>
        </p:blipFill>
        <p:spPr>
          <a:xfrm>
            <a:off x="1682023" y="2351156"/>
            <a:ext cx="1651000" cy="1651000"/>
          </a:xfrm>
          <a:prstGeom prst="rect">
            <a:avLst/>
          </a:prstGeom>
        </p:spPr>
      </p:pic>
      <p:sp>
        <p:nvSpPr>
          <p:cNvPr id="6" name="Text 3"/>
          <p:cNvSpPr/>
          <p:nvPr/>
        </p:nvSpPr>
        <p:spPr>
          <a:xfrm>
            <a:off x="1656623" y="2884556"/>
            <a:ext cx="1701800" cy="431800"/>
          </a:xfrm>
          <a:prstGeom prst="rect">
            <a:avLst/>
          </a:prstGeom>
          <a:noFill/>
          <a:ln/>
        </p:spPr>
        <p:txBody>
          <a:bodyPr wrap="square" lIns="0" tIns="0" rIns="0" bIns="0" rtlCol="0" anchor="t">
            <a:normAutofit/>
          </a:bodyPr>
          <a:lstStyle/>
          <a:p>
            <a:pPr algn="ctr" indent="0" marL="0">
              <a:lnSpc>
                <a:spcPts val="3200"/>
              </a:lnSpc>
              <a:buNone/>
            </a:pPr>
            <a:r>
              <a:rPr lang="en-US" sz="3200" b="1" dirty="0">
                <a:solidFill>
                  <a:srgbClr val="16202E"/>
                </a:solidFill>
                <a:latin typeface="Plus Jakarta Sans" pitchFamily="34" charset="0"/>
                <a:ea typeface="Plus Jakarta Sans" pitchFamily="34" charset="-122"/>
                <a:cs typeface="Plus Jakarta Sans" pitchFamily="34" charset="-120"/>
              </a:rPr>
              <a:t>5.6%</a:t>
            </a:r>
            <a:endParaRPr lang="en-US" sz="3200" dirty="0"/>
          </a:p>
        </p:txBody>
      </p:sp>
      <p:sp>
        <p:nvSpPr>
          <p:cNvPr id="7" name="Text 4"/>
          <p:cNvSpPr/>
          <p:nvPr/>
        </p:nvSpPr>
        <p:spPr>
          <a:xfrm>
            <a:off x="1656623" y="3341756"/>
            <a:ext cx="170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unemployed</a:t>
            </a:r>
            <a:endParaRPr lang="en-US" sz="1200" dirty="0"/>
          </a:p>
        </p:txBody>
      </p:sp>
      <p:sp>
        <p:nvSpPr>
          <p:cNvPr id="8" name="Text 5"/>
          <p:cNvSpPr/>
          <p:nvPr/>
        </p:nvSpPr>
        <p:spPr>
          <a:xfrm>
            <a:off x="819150" y="4078356"/>
            <a:ext cx="3376679" cy="256514"/>
          </a:xfrm>
          <a:prstGeom prst="rect">
            <a:avLst/>
          </a:prstGeom>
          <a:noFill/>
          <a:ln/>
        </p:spPr>
        <p:txBody>
          <a:bodyPr wrap="square" lIns="0" tIns="0" rIns="0" bIns="0" rtlCol="0" anchor="t">
            <a:normAutofit/>
          </a:bodyPr>
          <a:lstStyle/>
          <a:p>
            <a:pPr algn="ctr" indent="0" marL="0">
              <a:lnSpc>
                <a:spcPts val="1820"/>
              </a:lnSpc>
              <a:buNone/>
            </a:pPr>
            <a:r>
              <a:rPr lang="en-US" sz="1400" dirty="0">
                <a:solidFill>
                  <a:srgbClr val="3D4A5C"/>
                </a:solidFill>
                <a:latin typeface="Plus Jakarta Sans" pitchFamily="34" charset="0"/>
                <a:ea typeface="Plus Jakarta Sans" pitchFamily="34" charset="-122"/>
                <a:cs typeface="Plus Jakarta Sans" pitchFamily="34" charset="-120"/>
              </a:rPr>
              <a:t>recent graduates, about, Q2 2026</a:t>
            </a:r>
            <a:endParaRPr lang="en-US" sz="1400" dirty="0"/>
          </a:p>
        </p:txBody>
      </p:sp>
      <p:sp>
        <p:nvSpPr>
          <p:cNvPr id="9" name="Shape 6"/>
          <p:cNvSpPr/>
          <p:nvPr/>
        </p:nvSpPr>
        <p:spPr>
          <a:xfrm>
            <a:off x="4405445" y="1879600"/>
            <a:ext cx="3381044" cy="2611901"/>
          </a:xfrm>
          <a:prstGeom prst="roundRect">
            <a:avLst>
              <a:gd name="adj" fmla="val 5835"/>
            </a:avLst>
          </a:prstGeom>
          <a:solidFill>
            <a:srgbClr val="0F4C5C"/>
          </a:solidFill>
          <a:ln/>
        </p:spPr>
      </p:sp>
      <p:sp>
        <p:nvSpPr>
          <p:cNvPr id="10" name="Text 7"/>
          <p:cNvSpPr/>
          <p:nvPr/>
        </p:nvSpPr>
        <p:spPr>
          <a:xfrm>
            <a:off x="5158674" y="2057400"/>
            <a:ext cx="1874520" cy="23872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A9D6E0"/>
                </a:solidFill>
                <a:latin typeface="JetBrains Mono" pitchFamily="49" charset="0"/>
                <a:ea typeface="JetBrains Mono" pitchFamily="49" charset="-122"/>
                <a:cs typeface="JetBrains Mono" pitchFamily="49" charset="-120"/>
              </a:rPr>
              <a:t>UNDEREMPLOYMENT</a:t>
            </a:r>
            <a:endParaRPr lang="en-US" sz="1200" dirty="0"/>
          </a:p>
        </p:txBody>
      </p:sp>
      <p:pic>
        <p:nvPicPr>
          <p:cNvPr id="11" name="Image 1" descr="Ring gauge: 42% of recent graduates underemployed">    </p:cNvPr>
          <p:cNvPicPr>
            <a:picLocks noChangeAspect="1"/>
          </p:cNvPicPr>
          <p:nvPr/>
        </p:nvPicPr>
        <p:blipFill>
          <a:blip r:embed="rId2"/>
          <a:srcRect l="0" r="0" t="0" b="0"/>
          <a:stretch/>
        </p:blipFill>
        <p:spPr>
          <a:xfrm>
            <a:off x="5270434" y="2346920"/>
            <a:ext cx="1651000" cy="1651000"/>
          </a:xfrm>
          <a:prstGeom prst="rect">
            <a:avLst/>
          </a:prstGeom>
        </p:spPr>
      </p:pic>
      <p:sp>
        <p:nvSpPr>
          <p:cNvPr id="12" name="Text 8"/>
          <p:cNvSpPr/>
          <p:nvPr/>
        </p:nvSpPr>
        <p:spPr>
          <a:xfrm>
            <a:off x="5245034" y="2880320"/>
            <a:ext cx="1701800" cy="431800"/>
          </a:xfrm>
          <a:prstGeom prst="rect">
            <a:avLst/>
          </a:prstGeom>
          <a:noFill/>
          <a:ln/>
        </p:spPr>
        <p:txBody>
          <a:bodyPr wrap="square" lIns="0" tIns="0" rIns="0" bIns="0" rtlCol="0" anchor="t">
            <a:normAutofit/>
          </a:bodyPr>
          <a:lstStyle/>
          <a:p>
            <a:pPr algn="ctr" indent="0" marL="0">
              <a:lnSpc>
                <a:spcPts val="3200"/>
              </a:lnSpc>
              <a:buNone/>
            </a:pPr>
            <a:r>
              <a:rPr lang="en-US" sz="3200" b="1" dirty="0">
                <a:solidFill>
                  <a:srgbClr val="F7F4EE"/>
                </a:solidFill>
                <a:latin typeface="Plus Jakarta Sans" pitchFamily="34" charset="0"/>
                <a:ea typeface="Plus Jakarta Sans" pitchFamily="34" charset="-122"/>
                <a:cs typeface="Plus Jakarta Sans" pitchFamily="34" charset="-120"/>
              </a:rPr>
              <a:t>42%</a:t>
            </a:r>
            <a:endParaRPr lang="en-US" sz="3200" dirty="0"/>
          </a:p>
        </p:txBody>
      </p:sp>
      <p:sp>
        <p:nvSpPr>
          <p:cNvPr id="13" name="Text 9"/>
          <p:cNvSpPr/>
          <p:nvPr/>
        </p:nvSpPr>
        <p:spPr>
          <a:xfrm>
            <a:off x="5245034" y="3337520"/>
            <a:ext cx="170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D6E0"/>
                </a:solidFill>
                <a:latin typeface="Plus Jakarta Sans" pitchFamily="34" charset="0"/>
                <a:ea typeface="Plus Jakarta Sans" pitchFamily="34" charset="-122"/>
                <a:cs typeface="Plus Jakarta Sans" pitchFamily="34" charset="-120"/>
              </a:rPr>
              <a:t>underemployed</a:t>
            </a:r>
            <a:endParaRPr lang="en-US" sz="1200" dirty="0"/>
          </a:p>
        </p:txBody>
      </p:sp>
      <p:sp>
        <p:nvSpPr>
          <p:cNvPr id="14" name="Text 10"/>
          <p:cNvSpPr/>
          <p:nvPr/>
        </p:nvSpPr>
        <p:spPr>
          <a:xfrm>
            <a:off x="4604551" y="4074120"/>
            <a:ext cx="2982833" cy="256514"/>
          </a:xfrm>
          <a:prstGeom prst="rect">
            <a:avLst/>
          </a:prstGeom>
          <a:noFill/>
          <a:ln/>
        </p:spPr>
        <p:txBody>
          <a:bodyPr wrap="square" lIns="0" tIns="0" rIns="0" bIns="0" rtlCol="0" anchor="t">
            <a:normAutofit/>
          </a:bodyPr>
          <a:lstStyle/>
          <a:p>
            <a:pPr algn="ctr" indent="0" marL="0">
              <a:lnSpc>
                <a:spcPts val="1820"/>
              </a:lnSpc>
              <a:buNone/>
            </a:pPr>
            <a:r>
              <a:rPr lang="en-US" sz="1400" dirty="0">
                <a:solidFill>
                  <a:srgbClr val="F7F4EE"/>
                </a:solidFill>
                <a:latin typeface="Plus Jakarta Sans" pitchFamily="34" charset="0"/>
                <a:ea typeface="Plus Jakarta Sans" pitchFamily="34" charset="-122"/>
                <a:cs typeface="Plus Jakarta Sans" pitchFamily="34" charset="-120"/>
              </a:rPr>
              <a:t>of recent graduates, Q2 2026</a:t>
            </a:r>
            <a:endParaRPr lang="en-US" sz="1400" dirty="0"/>
          </a:p>
        </p:txBody>
      </p:sp>
      <p:sp>
        <p:nvSpPr>
          <p:cNvPr id="15" name="Shape 11"/>
          <p:cNvSpPr/>
          <p:nvPr/>
        </p:nvSpPr>
        <p:spPr>
          <a:xfrm>
            <a:off x="7992864" y="1882775"/>
            <a:ext cx="3383161" cy="2605551"/>
          </a:xfrm>
          <a:prstGeom prst="roundRect">
            <a:avLst>
              <a:gd name="adj" fmla="val 5727"/>
            </a:avLst>
          </a:prstGeom>
          <a:solidFill>
            <a:srgbClr val="FFFFFF"/>
          </a:solidFill>
          <a:ln w="6350">
            <a:solidFill>
              <a:srgbClr val="B5C7CC"/>
            </a:solidFill>
            <a:prstDash val="solid"/>
          </a:ln>
        </p:spPr>
      </p:sp>
      <p:sp>
        <p:nvSpPr>
          <p:cNvPr id="16" name="Text 12"/>
          <p:cNvSpPr/>
          <p:nvPr/>
        </p:nvSpPr>
        <p:spPr>
          <a:xfrm>
            <a:off x="8684677" y="2061635"/>
            <a:ext cx="1999536" cy="23872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0F4C5C"/>
                </a:solidFill>
                <a:latin typeface="JetBrains Mono" pitchFamily="49" charset="0"/>
                <a:ea typeface="JetBrains Mono" pitchFamily="49" charset="-122"/>
                <a:cs typeface="JetBrains Mono" pitchFamily="49" charset="-120"/>
              </a:rPr>
              <a:t>LOAN DELINQUENCY</a:t>
            </a:r>
            <a:endParaRPr lang="en-US" sz="1200" dirty="0"/>
          </a:p>
        </p:txBody>
      </p:sp>
      <p:pic>
        <p:nvPicPr>
          <p:cNvPr id="17" name="Image 2" descr="Ring gauge: 10.3% of student-loan balances 90 or more days overdue">    </p:cNvPr>
          <p:cNvPicPr>
            <a:picLocks noChangeAspect="1"/>
          </p:cNvPicPr>
          <p:nvPr/>
        </p:nvPicPr>
        <p:blipFill>
          <a:blip r:embed="rId3"/>
          <a:srcRect l="0" r="0" t="0" b="0"/>
          <a:stretch/>
        </p:blipFill>
        <p:spPr>
          <a:xfrm>
            <a:off x="8858912" y="2351156"/>
            <a:ext cx="1651000" cy="1651000"/>
          </a:xfrm>
          <a:prstGeom prst="rect">
            <a:avLst/>
          </a:prstGeom>
        </p:spPr>
      </p:pic>
      <p:sp>
        <p:nvSpPr>
          <p:cNvPr id="18" name="Text 13"/>
          <p:cNvSpPr/>
          <p:nvPr/>
        </p:nvSpPr>
        <p:spPr>
          <a:xfrm>
            <a:off x="8833512" y="2884556"/>
            <a:ext cx="1701800" cy="431800"/>
          </a:xfrm>
          <a:prstGeom prst="rect">
            <a:avLst/>
          </a:prstGeom>
          <a:noFill/>
          <a:ln/>
        </p:spPr>
        <p:txBody>
          <a:bodyPr wrap="square" lIns="0" tIns="0" rIns="0" bIns="0" rtlCol="0" anchor="t">
            <a:normAutofit/>
          </a:bodyPr>
          <a:lstStyle/>
          <a:p>
            <a:pPr algn="ctr" indent="0" marL="0">
              <a:lnSpc>
                <a:spcPts val="3200"/>
              </a:lnSpc>
              <a:buNone/>
            </a:pPr>
            <a:r>
              <a:rPr lang="en-US" sz="3200" b="1" dirty="0">
                <a:solidFill>
                  <a:srgbClr val="16202E"/>
                </a:solidFill>
                <a:latin typeface="Plus Jakarta Sans" pitchFamily="34" charset="0"/>
                <a:ea typeface="Plus Jakarta Sans" pitchFamily="34" charset="-122"/>
                <a:cs typeface="Plus Jakarta Sans" pitchFamily="34" charset="-120"/>
              </a:rPr>
              <a:t>10.3%</a:t>
            </a:r>
            <a:endParaRPr lang="en-US" sz="3200" dirty="0"/>
          </a:p>
        </p:txBody>
      </p:sp>
      <p:sp>
        <p:nvSpPr>
          <p:cNvPr id="19" name="Text 14"/>
          <p:cNvSpPr/>
          <p:nvPr/>
        </p:nvSpPr>
        <p:spPr>
          <a:xfrm>
            <a:off x="8833512" y="3341756"/>
            <a:ext cx="170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90+ days late</a:t>
            </a:r>
            <a:endParaRPr lang="en-US" sz="1200" dirty="0"/>
          </a:p>
        </p:txBody>
      </p:sp>
      <p:sp>
        <p:nvSpPr>
          <p:cNvPr id="20" name="Text 15"/>
          <p:cNvSpPr/>
          <p:nvPr/>
        </p:nvSpPr>
        <p:spPr>
          <a:xfrm>
            <a:off x="7996039" y="4078356"/>
            <a:ext cx="3376745" cy="256514"/>
          </a:xfrm>
          <a:prstGeom prst="rect">
            <a:avLst/>
          </a:prstGeom>
          <a:noFill/>
          <a:ln/>
        </p:spPr>
        <p:txBody>
          <a:bodyPr wrap="square" lIns="0" tIns="0" rIns="0" bIns="0" rtlCol="0" anchor="t">
            <a:normAutofit/>
          </a:bodyPr>
          <a:lstStyle/>
          <a:p>
            <a:pPr algn="ctr" indent="0" marL="0">
              <a:lnSpc>
                <a:spcPts val="1820"/>
              </a:lnSpc>
              <a:buNone/>
            </a:pPr>
            <a:r>
              <a:rPr lang="en-US" sz="1400" dirty="0">
                <a:solidFill>
                  <a:srgbClr val="3D4A5C"/>
                </a:solidFill>
                <a:latin typeface="Plus Jakarta Sans" pitchFamily="34" charset="0"/>
                <a:ea typeface="Plus Jakarta Sans" pitchFamily="34" charset="-122"/>
                <a:cs typeface="Plus Jakarta Sans" pitchFamily="34" charset="-120"/>
              </a:rPr>
              <a:t>of student-loan balances, Q1 2026</a:t>
            </a:r>
            <a:endParaRPr lang="en-US" sz="1400" dirty="0"/>
          </a:p>
        </p:txBody>
      </p:sp>
      <p:sp>
        <p:nvSpPr>
          <p:cNvPr id="21" name="Text 16"/>
          <p:cNvSpPr/>
          <p:nvPr/>
        </p:nvSpPr>
        <p:spPr>
          <a:xfrm>
            <a:off x="812800" y="4720103"/>
            <a:ext cx="10883392"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Plus Jakarta Sans" pitchFamily="34" charset="0"/>
                <a:ea typeface="Plus Jakarta Sans" pitchFamily="34" charset="-122"/>
                <a:cs typeface="Plus Jakarta Sans" pitchFamily="34" charset="-120"/>
              </a:rPr>
              <a:t>In Q1 2026 about 2.6 million borrowers, more than 120 days past due, were moved to the Education Department’s default resolution group.</a:t>
            </a:r>
            <a:endParaRPr lang="en-US" sz="1400" dirty="0"/>
          </a:p>
        </p:txBody>
      </p:sp>
      <p:sp>
        <p:nvSpPr>
          <p:cNvPr id="22"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Sources: NY Fed, Labor Market for Recent College Graduates (Q2 2026); NY Fed household debt report, Q1 2026</a:t>
            </a:r>
            <a:endParaRPr lang="en-US" sz="1200" dirty="0"/>
          </a:p>
        </p:txBody>
      </p:sp>
      <p:sp>
        <p:nvSpPr>
          <p:cNvPr id="23" name="Slide Number Placehold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D6E0"/>
                </a:solidFill>
                <a:latin typeface="JetBrains Mono" pitchFamily="49" charset="0"/>
                <a:ea typeface="JetBrains Mono" pitchFamily="49" charset="-122"/>
                <a:cs typeface="JetBrains Mono" pitchFamily="49" charset="-120"/>
              </a:rPr>
              <a:t>// PRICE VS. PAYOFF</a:t>
            </a:r>
            <a:endParaRPr lang="en-US" sz="1200" dirty="0"/>
          </a:p>
        </p:txBody>
      </p:sp>
      <p:sp>
        <p:nvSpPr>
          <p:cNvPr id="3" name="Text 1"/>
          <p:cNvSpPr/>
          <p:nvPr>
            <p:ph type="title"/>
          </p:nvPr>
        </p:nvSpPr>
        <p:spPr>
          <a:xfrm>
            <a:off x="812800" y="1178520"/>
            <a:ext cx="10883392" cy="958056"/>
          </a:xfrm>
          <a:prstGeom prst="rect">
            <a:avLst/>
          </a:prstGeom>
          <a:noFill/>
          <a:ln/>
        </p:spPr>
        <p:txBody>
          <a:bodyPr wrap="square" lIns="0" tIns="0" rIns="0" bIns="0" rtlCol="0" anchor="t">
            <a:normAutofit/>
          </a:bodyPr>
          <a:lstStyle/>
          <a:p>
            <a:pPr algn="l" indent="0" marL="0">
              <a:lnSpc>
                <a:spcPts val="3672"/>
              </a:lnSpc>
              <a:buNone/>
            </a:pPr>
            <a:r>
              <a:rPr lang="en-US" sz="3400" b="1" i="0" spc="-50" kern="0" dirty="0">
                <a:solidFill>
                  <a:srgbClr val="F7F4EE"/>
                </a:solidFill>
                <a:latin typeface="Plus Jakarta Sans" pitchFamily="34" charset="0"/>
                <a:ea typeface="Plus Jakarta Sans" pitchFamily="34" charset="-122"/>
                <a:cs typeface="Plus Jakarta Sans" pitchFamily="34" charset="-120"/>
              </a:rPr>
              <a:t>A $7,382 college returns more than six times as much per tuition-dollar as a $62,796 one</a:t>
            </a:r>
            <a:endParaRPr lang="en-US" sz="3400" dirty="0"/>
          </a:p>
        </p:txBody>
      </p:sp>
      <p:sp>
        <p:nvSpPr>
          <p:cNvPr id="4" name="Shape 2"/>
          <p:cNvSpPr/>
          <p:nvPr/>
        </p:nvSpPr>
        <p:spPr>
          <a:xfrm>
            <a:off x="812800" y="2365177"/>
            <a:ext cx="4394200" cy="1544241"/>
          </a:xfrm>
          <a:prstGeom prst="roundRect">
            <a:avLst>
              <a:gd name="adj" fmla="val 8224"/>
            </a:avLst>
          </a:prstGeom>
          <a:solidFill>
            <a:srgbClr val="F7F4EE"/>
          </a:solidFill>
          <a:ln/>
        </p:spPr>
      </p:sp>
      <p:sp>
        <p:nvSpPr>
          <p:cNvPr id="5" name="Text 3"/>
          <p:cNvSpPr/>
          <p:nvPr/>
        </p:nvSpPr>
        <p:spPr>
          <a:xfrm>
            <a:off x="1016000" y="2568377"/>
            <a:ext cx="41074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Plus Jakarta Sans" pitchFamily="34" charset="0"/>
                <a:ea typeface="Plus Jakarta Sans" pitchFamily="34" charset="-122"/>
                <a:cs typeface="Plus Jakarta Sans" pitchFamily="34" charset="-120"/>
              </a:rPr>
              <a:t>CUNY Hunter College · $7,382 tuition</a:t>
            </a:r>
            <a:endParaRPr lang="en-US" sz="1200" dirty="0"/>
          </a:p>
        </p:txBody>
      </p:sp>
      <p:sp>
        <p:nvSpPr>
          <p:cNvPr id="6" name="Text 4"/>
          <p:cNvSpPr/>
          <p:nvPr/>
        </p:nvSpPr>
        <p:spPr>
          <a:xfrm>
            <a:off x="1016000" y="2832497"/>
            <a:ext cx="410743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F4C5C"/>
                </a:solidFill>
                <a:latin typeface="Plus Jakarta Sans" pitchFamily="34" charset="0"/>
                <a:ea typeface="Plus Jakarta Sans" pitchFamily="34" charset="-122"/>
                <a:cs typeface="Plus Jakarta Sans" pitchFamily="34" charset="-120"/>
              </a:rPr>
              <a:t>$2.14</a:t>
            </a:r>
            <a:endParaRPr lang="en-US" sz="4800" dirty="0"/>
          </a:p>
        </p:txBody>
      </p:sp>
      <p:sp>
        <p:nvSpPr>
          <p:cNvPr id="7" name="Text 5"/>
          <p:cNvSpPr/>
          <p:nvPr/>
        </p:nvSpPr>
        <p:spPr>
          <a:xfrm>
            <a:off x="1016000" y="3492897"/>
            <a:ext cx="41074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Plus Jakarta Sans" pitchFamily="34" charset="0"/>
                <a:ea typeface="Plus Jakarta Sans" pitchFamily="34" charset="-122"/>
                <a:cs typeface="Plus Jakarta Sans" pitchFamily="34" charset="-120"/>
              </a:rPr>
              <a:t>earnings per $1 of four-year tuition</a:t>
            </a:r>
            <a:endParaRPr lang="en-US" sz="1200" dirty="0"/>
          </a:p>
        </p:txBody>
      </p:sp>
      <p:sp>
        <p:nvSpPr>
          <p:cNvPr id="8" name="Shape 6"/>
          <p:cNvSpPr/>
          <p:nvPr/>
        </p:nvSpPr>
        <p:spPr>
          <a:xfrm>
            <a:off x="815975" y="4064992"/>
            <a:ext cx="4387850" cy="1546357"/>
          </a:xfrm>
          <a:prstGeom prst="roundRect">
            <a:avLst>
              <a:gd name="adj" fmla="val 8008"/>
            </a:avLst>
          </a:prstGeom>
          <a:solidFill>
            <a:srgbClr val="0B3A47"/>
          </a:solidFill>
          <a:ln w="6350">
            <a:solidFill>
              <a:srgbClr val="3B8EA0"/>
            </a:solidFill>
            <a:prstDash val="solid"/>
          </a:ln>
        </p:spPr>
      </p:sp>
      <p:sp>
        <p:nvSpPr>
          <p:cNvPr id="9" name="Text 7"/>
          <p:cNvSpPr/>
          <p:nvPr/>
        </p:nvSpPr>
        <p:spPr>
          <a:xfrm>
            <a:off x="1020233" y="4269253"/>
            <a:ext cx="40987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D6E0"/>
                </a:solidFill>
                <a:latin typeface="Plus Jakarta Sans" pitchFamily="34" charset="0"/>
                <a:ea typeface="Plus Jakarta Sans" pitchFamily="34" charset="-122"/>
                <a:cs typeface="Plus Jakarta Sans" pitchFamily="34" charset="-120"/>
              </a:rPr>
              <a:t>New York University · $62,796 tuition</a:t>
            </a:r>
            <a:endParaRPr lang="en-US" sz="1200" dirty="0"/>
          </a:p>
        </p:txBody>
      </p:sp>
      <p:sp>
        <p:nvSpPr>
          <p:cNvPr id="10" name="Text 8"/>
          <p:cNvSpPr/>
          <p:nvPr/>
        </p:nvSpPr>
        <p:spPr>
          <a:xfrm>
            <a:off x="1020233" y="4533373"/>
            <a:ext cx="409871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7F4EE"/>
                </a:solidFill>
                <a:latin typeface="Plus Jakarta Sans" pitchFamily="34" charset="0"/>
                <a:ea typeface="Plus Jakarta Sans" pitchFamily="34" charset="-122"/>
                <a:cs typeface="Plus Jakarta Sans" pitchFamily="34" charset="-120"/>
              </a:rPr>
              <a:t>$0.33</a:t>
            </a:r>
            <a:endParaRPr lang="en-US" sz="4800" dirty="0"/>
          </a:p>
        </p:txBody>
      </p:sp>
      <p:sp>
        <p:nvSpPr>
          <p:cNvPr id="11" name="Text 9"/>
          <p:cNvSpPr/>
          <p:nvPr/>
        </p:nvSpPr>
        <p:spPr>
          <a:xfrm>
            <a:off x="1020233" y="5193773"/>
            <a:ext cx="40987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D6E0"/>
                </a:solidFill>
                <a:latin typeface="Plus Jakarta Sans" pitchFamily="34" charset="0"/>
                <a:ea typeface="Plus Jakarta Sans" pitchFamily="34" charset="-122"/>
                <a:cs typeface="Plus Jakarta Sans" pitchFamily="34" charset="-120"/>
              </a:rPr>
              <a:t>earnings per $1 of four-year tuition</a:t>
            </a:r>
            <a:endParaRPr lang="en-US" sz="1200" dirty="0"/>
          </a:p>
        </p:txBody>
      </p:sp>
      <p:sp>
        <p:nvSpPr>
          <p:cNvPr id="12" name="Shape 10"/>
          <p:cNvSpPr/>
          <p:nvPr/>
        </p:nvSpPr>
        <p:spPr>
          <a:xfrm>
            <a:off x="5410200" y="2365177"/>
            <a:ext cx="5969000" cy="3249348"/>
          </a:xfrm>
          <a:prstGeom prst="roundRect">
            <a:avLst>
              <a:gd name="adj" fmla="val 3908"/>
            </a:avLst>
          </a:prstGeom>
          <a:solidFill>
            <a:srgbClr val="F7F4EE"/>
          </a:solidFill>
          <a:ln/>
        </p:spPr>
      </p:sp>
      <p:sp>
        <p:nvSpPr>
          <p:cNvPr id="13" name="Text 11"/>
          <p:cNvSpPr/>
          <p:nvPr/>
        </p:nvSpPr>
        <p:spPr>
          <a:xfrm>
            <a:off x="5537200" y="2492177"/>
            <a:ext cx="588645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Plus Jakarta Sans" pitchFamily="34" charset="0"/>
                <a:ea typeface="Plus Jakarta Sans" pitchFamily="34" charset="-122"/>
                <a:cs typeface="Plus Jakarta Sans" pitchFamily="34" charset="-120"/>
              </a:rPr>
              <a:t>Each dot is one of 200 schools</a:t>
            </a:r>
            <a:endParaRPr lang="en-US" sz="1400" dirty="0"/>
          </a:p>
        </p:txBody>
      </p:sp>
      <p:pic>
        <p:nvPicPr>
          <p:cNvPr id="14" name="Image 0" descr="Scatter chart of 200 schools: in-state tuition across, 10-year median earnings up. Hunter sits low-cost with mid earnings, Rutgers-Newark in the middle, NYU high-cost with high earnings; most schools cluster between.">    </p:cNvPr>
          <p:cNvPicPr>
            <a:picLocks noChangeAspect="1"/>
          </p:cNvPicPr>
          <p:nvPr/>
        </p:nvPicPr>
        <p:blipFill>
          <a:blip r:embed="rId1"/>
          <a:srcRect l="0" r="0" t="0" b="0"/>
          <a:stretch/>
        </p:blipFill>
        <p:spPr>
          <a:xfrm>
            <a:off x="5537200" y="2817285"/>
            <a:ext cx="5715000" cy="2286000"/>
          </a:xfrm>
          <a:prstGeom prst="rect">
            <a:avLst/>
          </a:prstGeom>
        </p:spPr>
      </p:pic>
      <p:sp>
        <p:nvSpPr>
          <p:cNvPr id="15" name="Text 12"/>
          <p:cNvSpPr/>
          <p:nvPr/>
        </p:nvSpPr>
        <p:spPr>
          <a:xfrm>
            <a:off x="5486400" y="2988735"/>
            <a:ext cx="508000" cy="45204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$120K</a:t>
            </a:r>
            <a:endParaRPr lang="en-US" sz="1200" dirty="0"/>
          </a:p>
        </p:txBody>
      </p:sp>
      <p:sp>
        <p:nvSpPr>
          <p:cNvPr id="16" name="Text 13"/>
          <p:cNvSpPr/>
          <p:nvPr/>
        </p:nvSpPr>
        <p:spPr>
          <a:xfrm>
            <a:off x="5486400" y="3776135"/>
            <a:ext cx="508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$80K</a:t>
            </a:r>
            <a:endParaRPr lang="en-US" sz="1200" dirty="0"/>
          </a:p>
        </p:txBody>
      </p:sp>
      <p:sp>
        <p:nvSpPr>
          <p:cNvPr id="17" name="Text 14"/>
          <p:cNvSpPr/>
          <p:nvPr/>
        </p:nvSpPr>
        <p:spPr>
          <a:xfrm>
            <a:off x="5486400" y="4563535"/>
            <a:ext cx="508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$40K</a:t>
            </a:r>
            <a:endParaRPr lang="en-US" sz="1200" dirty="0"/>
          </a:p>
        </p:txBody>
      </p:sp>
      <p:sp>
        <p:nvSpPr>
          <p:cNvPr id="18" name="Text 15"/>
          <p:cNvSpPr/>
          <p:nvPr/>
        </p:nvSpPr>
        <p:spPr>
          <a:xfrm>
            <a:off x="6045200" y="4900085"/>
            <a:ext cx="685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$0</a:t>
            </a:r>
            <a:endParaRPr lang="en-US" sz="1200" dirty="0"/>
          </a:p>
        </p:txBody>
      </p:sp>
      <p:sp>
        <p:nvSpPr>
          <p:cNvPr id="19" name="Text 16"/>
          <p:cNvSpPr/>
          <p:nvPr/>
        </p:nvSpPr>
        <p:spPr>
          <a:xfrm>
            <a:off x="7397750" y="4900085"/>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$25K</a:t>
            </a:r>
            <a:endParaRPr lang="en-US" sz="1200" dirty="0"/>
          </a:p>
        </p:txBody>
      </p:sp>
      <p:sp>
        <p:nvSpPr>
          <p:cNvPr id="20" name="Text 17"/>
          <p:cNvSpPr/>
          <p:nvPr/>
        </p:nvSpPr>
        <p:spPr>
          <a:xfrm>
            <a:off x="9086850" y="4900085"/>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$50K</a:t>
            </a:r>
            <a:endParaRPr lang="en-US" sz="1200" dirty="0"/>
          </a:p>
        </p:txBody>
      </p:sp>
      <p:sp>
        <p:nvSpPr>
          <p:cNvPr id="21" name="Text 18"/>
          <p:cNvSpPr/>
          <p:nvPr/>
        </p:nvSpPr>
        <p:spPr>
          <a:xfrm>
            <a:off x="10439400" y="4900085"/>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$75K</a:t>
            </a:r>
            <a:endParaRPr lang="en-US" sz="1200" dirty="0"/>
          </a:p>
        </p:txBody>
      </p:sp>
      <p:sp>
        <p:nvSpPr>
          <p:cNvPr id="22" name="Text 19"/>
          <p:cNvSpPr/>
          <p:nvPr/>
        </p:nvSpPr>
        <p:spPr>
          <a:xfrm>
            <a:off x="6680200" y="4226985"/>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5C"/>
                </a:solidFill>
                <a:latin typeface="Plus Jakarta Sans" pitchFamily="34" charset="0"/>
                <a:ea typeface="Plus Jakarta Sans" pitchFamily="34" charset="-122"/>
                <a:cs typeface="Plus Jakarta Sans" pitchFamily="34" charset="-120"/>
              </a:rPr>
              <a:t>Hunter</a:t>
            </a:r>
            <a:endParaRPr lang="en-US" sz="1200" dirty="0"/>
          </a:p>
        </p:txBody>
      </p:sp>
      <p:sp>
        <p:nvSpPr>
          <p:cNvPr id="23" name="Text 20"/>
          <p:cNvSpPr/>
          <p:nvPr/>
        </p:nvSpPr>
        <p:spPr>
          <a:xfrm>
            <a:off x="7340600" y="3782485"/>
            <a:ext cx="1447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B7A"/>
                </a:solidFill>
                <a:latin typeface="Plus Jakarta Sans" pitchFamily="34" charset="0"/>
                <a:ea typeface="Plus Jakarta Sans" pitchFamily="34" charset="-122"/>
                <a:cs typeface="Plus Jakarta Sans" pitchFamily="34" charset="-120"/>
              </a:rPr>
              <a:t>Rutgers-Newark</a:t>
            </a:r>
            <a:endParaRPr lang="en-US" sz="1200" dirty="0"/>
          </a:p>
        </p:txBody>
      </p:sp>
      <p:sp>
        <p:nvSpPr>
          <p:cNvPr id="24" name="Text 21"/>
          <p:cNvSpPr/>
          <p:nvPr/>
        </p:nvSpPr>
        <p:spPr>
          <a:xfrm>
            <a:off x="9004300" y="3642785"/>
            <a:ext cx="1193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6202E"/>
                </a:solidFill>
                <a:latin typeface="Plus Jakarta Sans" pitchFamily="34" charset="0"/>
                <a:ea typeface="Plus Jakarta Sans" pitchFamily="34" charset="-122"/>
                <a:cs typeface="Plus Jakarta Sans" pitchFamily="34" charset="-120"/>
              </a:rPr>
              <a:t>NYU</a:t>
            </a:r>
            <a:endParaRPr lang="en-US" sz="1200" dirty="0"/>
          </a:p>
        </p:txBody>
      </p:sp>
      <p:sp>
        <p:nvSpPr>
          <p:cNvPr id="25" name="Text 22"/>
          <p:cNvSpPr/>
          <p:nvPr/>
        </p:nvSpPr>
        <p:spPr>
          <a:xfrm>
            <a:off x="5537200" y="5179485"/>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Across: in-state tuition per year · Up: 10-year median earnings</a:t>
            </a:r>
            <a:endParaRPr lang="en-US" sz="1200" dirty="0"/>
          </a:p>
        </p:txBody>
      </p:sp>
      <p:sp>
        <p:nvSpPr>
          <p:cNvPr id="26" name="Text 2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D6E0"/>
                </a:solidFill>
                <a:latin typeface="Plus Jakarta Sans" pitchFamily="34" charset="0"/>
                <a:ea typeface="Plus Jakarta Sans" pitchFamily="34" charset="-122"/>
                <a:cs typeface="Plus Jakarta Sans" pitchFamily="34" charset="-120"/>
              </a:rPr>
              <a:t>Three colleges compared with 200 schools · Source: College Scorecard, in college-analysis.xlsx</a:t>
            </a:r>
            <a:endParaRPr lang="en-US" sz="1200" dirty="0"/>
          </a:p>
        </p:txBody>
      </p:sp>
      <p:sp>
        <p:nvSpPr>
          <p:cNvPr id="27" name="Slide Number Placeholder"/>
          <p:cNvSpPr>
            <a:spLocks noGrp="1"/>
          </p:cNvSpPr>
          <p:nvPr>
            <p:ph type="sldNum" sz="quarter" idx="12"/>
          </p:nvPr>
        </p:nvSpPr>
        <p:spPr/>
        <p:txBody>
          <a:bodyPr/>
          <a:lstStyle/>
          <a:p>
            <a:fld id="{B6F15528-21DE-4FAA-801E-634DDDAF4B2B}" type="slidenum">
              <a:rPr lang="en-US">
                <a:solidFill>
                  <a:srgbClr val="A9D6E0"/>
                </a:solidFill>
              </a:rPr>
              <a:t>‹#›</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6202E"/>
                </a:solidFill>
                <a:latin typeface="Plus Jakarta Sans" pitchFamily="34" charset="0"/>
                <a:ea typeface="Plus Jakarta Sans" pitchFamily="34" charset="-122"/>
                <a:cs typeface="Plus Jakarta Sans" pitchFamily="34" charset="-120"/>
              </a:rPr>
              <a:t>Tuition differs 8.5x, but earnings differ only 31%</a:t>
            </a:r>
            <a:endParaRPr lang="en-US" sz="3000" dirty="0"/>
          </a:p>
        </p:txBody>
      </p:sp>
      <p:sp>
        <p:nvSpPr>
          <p:cNvPr id="3" name="Shape 1"/>
          <p:cNvSpPr/>
          <p:nvPr/>
        </p:nvSpPr>
        <p:spPr>
          <a:xfrm>
            <a:off x="815975" y="1463675"/>
            <a:ext cx="6597650" cy="3390371"/>
          </a:xfrm>
          <a:prstGeom prst="roundRect">
            <a:avLst>
              <a:gd name="adj" fmla="val 4401"/>
            </a:avLst>
          </a:prstGeom>
          <a:solidFill>
            <a:srgbClr val="FFFFFF"/>
          </a:solidFill>
          <a:ln w="6350">
            <a:solidFill>
              <a:srgbClr val="B5C7CC"/>
            </a:solidFill>
            <a:prstDash val="solid"/>
          </a:ln>
        </p:spPr>
      </p:sp>
      <p:sp>
        <p:nvSpPr>
          <p:cNvPr id="4" name="Text 2"/>
          <p:cNvSpPr/>
          <p:nvPr/>
        </p:nvSpPr>
        <p:spPr>
          <a:xfrm>
            <a:off x="944033" y="1591735"/>
            <a:ext cx="2028428"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Plus Jakarta Sans" pitchFamily="34" charset="0"/>
                <a:ea typeface="Plus Jakarta Sans" pitchFamily="34" charset="-122"/>
                <a:cs typeface="Plus Jakarta Sans" pitchFamily="34" charset="-120"/>
              </a:rPr>
              <a:t>Index, Hunter = 100</a:t>
            </a:r>
            <a:endParaRPr lang="en-US" sz="1400" dirty="0"/>
          </a:p>
        </p:txBody>
      </p:sp>
      <p:sp>
        <p:nvSpPr>
          <p:cNvPr id="5" name="Shape 3"/>
          <p:cNvSpPr/>
          <p:nvPr/>
        </p:nvSpPr>
        <p:spPr>
          <a:xfrm>
            <a:off x="5187487" y="1646306"/>
            <a:ext cx="139700" cy="139700"/>
          </a:xfrm>
          <a:prstGeom prst="roundRect">
            <a:avLst>
              <a:gd name="adj" fmla="val 50000"/>
            </a:avLst>
          </a:prstGeom>
          <a:solidFill>
            <a:srgbClr val="FF6B5B"/>
          </a:solidFill>
          <a:ln/>
        </p:spPr>
      </p:sp>
      <p:sp>
        <p:nvSpPr>
          <p:cNvPr id="6" name="Text 4"/>
          <p:cNvSpPr/>
          <p:nvPr/>
        </p:nvSpPr>
        <p:spPr>
          <a:xfrm>
            <a:off x="5390687" y="1609527"/>
            <a:ext cx="570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Plus Jakarta Sans" pitchFamily="34" charset="0"/>
                <a:ea typeface="Plus Jakarta Sans" pitchFamily="34" charset="-122"/>
                <a:cs typeface="Plus Jakarta Sans" pitchFamily="34" charset="-120"/>
              </a:rPr>
              <a:t>Tuition</a:t>
            </a:r>
            <a:endParaRPr lang="en-US" sz="1200" dirty="0"/>
          </a:p>
        </p:txBody>
      </p:sp>
      <p:sp>
        <p:nvSpPr>
          <p:cNvPr id="7" name="Shape 5"/>
          <p:cNvSpPr/>
          <p:nvPr/>
        </p:nvSpPr>
        <p:spPr>
          <a:xfrm>
            <a:off x="6043877" y="1646306"/>
            <a:ext cx="139700" cy="139700"/>
          </a:xfrm>
          <a:prstGeom prst="roundRect">
            <a:avLst>
              <a:gd name="adj" fmla="val 50000"/>
            </a:avLst>
          </a:prstGeom>
          <a:solidFill>
            <a:srgbClr val="19C39B"/>
          </a:solidFill>
          <a:ln/>
        </p:spPr>
      </p:sp>
      <p:sp>
        <p:nvSpPr>
          <p:cNvPr id="8" name="Text 6"/>
          <p:cNvSpPr/>
          <p:nvPr/>
        </p:nvSpPr>
        <p:spPr>
          <a:xfrm>
            <a:off x="6247077" y="1609527"/>
            <a:ext cx="11633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Plus Jakarta Sans" pitchFamily="34" charset="0"/>
                <a:ea typeface="Plus Jakarta Sans" pitchFamily="34" charset="-122"/>
                <a:cs typeface="Plus Jakarta Sans" pitchFamily="34" charset="-120"/>
              </a:rPr>
              <a:t>10-yr earnings</a:t>
            </a:r>
            <a:endParaRPr lang="en-US" sz="1200" dirty="0"/>
          </a:p>
        </p:txBody>
      </p:sp>
      <p:pic>
        <p:nvPicPr>
          <p:cNvPr id="9" name="Image 0" descr="Column chart indexed to Hunter = 100: tuition rises to 234 at Rutgers-Newark and 851 at NYU, while 10-year earnings rise only to 118 and 131.">    </p:cNvPr>
          <p:cNvPicPr>
            <a:picLocks noChangeAspect="1"/>
          </p:cNvPicPr>
          <p:nvPr/>
        </p:nvPicPr>
        <p:blipFill>
          <a:blip r:embed="rId1"/>
          <a:srcRect l="0" r="0" t="0" b="0"/>
          <a:stretch/>
        </p:blipFill>
        <p:spPr>
          <a:xfrm>
            <a:off x="944033" y="1916844"/>
            <a:ext cx="6350000" cy="2603500"/>
          </a:xfrm>
          <a:prstGeom prst="rect">
            <a:avLst/>
          </a:prstGeom>
        </p:spPr>
      </p:pic>
      <p:sp>
        <p:nvSpPr>
          <p:cNvPr id="10" name="Text 7"/>
          <p:cNvSpPr/>
          <p:nvPr/>
        </p:nvSpPr>
        <p:spPr>
          <a:xfrm>
            <a:off x="1299633" y="3745644"/>
            <a:ext cx="7493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E04A3A"/>
                </a:solidFill>
                <a:latin typeface="Plus Jakarta Sans" pitchFamily="34" charset="0"/>
                <a:ea typeface="Plus Jakarta Sans" pitchFamily="34" charset="-122"/>
                <a:cs typeface="Plus Jakarta Sans" pitchFamily="34" charset="-120"/>
              </a:rPr>
              <a:t>$7,382</a:t>
            </a:r>
            <a:endParaRPr lang="en-US" sz="1200" dirty="0"/>
          </a:p>
        </p:txBody>
      </p:sp>
      <p:sp>
        <p:nvSpPr>
          <p:cNvPr id="11" name="Text 8"/>
          <p:cNvSpPr/>
          <p:nvPr/>
        </p:nvSpPr>
        <p:spPr>
          <a:xfrm>
            <a:off x="2061633" y="3745644"/>
            <a:ext cx="7493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E9F7E"/>
                </a:solidFill>
                <a:latin typeface="Plus Jakarta Sans" pitchFamily="34" charset="0"/>
                <a:ea typeface="Plus Jakarta Sans" pitchFamily="34" charset="-122"/>
                <a:cs typeface="Plus Jakarta Sans" pitchFamily="34" charset="-120"/>
              </a:rPr>
              <a:t>$63,163</a:t>
            </a:r>
            <a:endParaRPr lang="en-US" sz="1200" dirty="0"/>
          </a:p>
        </p:txBody>
      </p:sp>
      <p:sp>
        <p:nvSpPr>
          <p:cNvPr id="12" name="Text 9"/>
          <p:cNvSpPr/>
          <p:nvPr/>
        </p:nvSpPr>
        <p:spPr>
          <a:xfrm>
            <a:off x="3458633" y="3428144"/>
            <a:ext cx="7493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E04A3A"/>
                </a:solidFill>
                <a:latin typeface="Plus Jakarta Sans" pitchFamily="34" charset="0"/>
                <a:ea typeface="Plus Jakarta Sans" pitchFamily="34" charset="-122"/>
                <a:cs typeface="Plus Jakarta Sans" pitchFamily="34" charset="-120"/>
              </a:rPr>
              <a:t>$17,250</a:t>
            </a:r>
            <a:endParaRPr lang="en-US" sz="1200" dirty="0"/>
          </a:p>
        </p:txBody>
      </p:sp>
      <p:sp>
        <p:nvSpPr>
          <p:cNvPr id="13" name="Text 10"/>
          <p:cNvSpPr/>
          <p:nvPr/>
        </p:nvSpPr>
        <p:spPr>
          <a:xfrm>
            <a:off x="4220633" y="3707544"/>
            <a:ext cx="7493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E9F7E"/>
                </a:solidFill>
                <a:latin typeface="Plus Jakarta Sans" pitchFamily="34" charset="0"/>
                <a:ea typeface="Plus Jakarta Sans" pitchFamily="34" charset="-122"/>
                <a:cs typeface="Plus Jakarta Sans" pitchFamily="34" charset="-120"/>
              </a:rPr>
              <a:t>$74,479</a:t>
            </a:r>
            <a:endParaRPr lang="en-US" sz="1200" dirty="0"/>
          </a:p>
        </p:txBody>
      </p:sp>
      <p:sp>
        <p:nvSpPr>
          <p:cNvPr id="14" name="Text 11"/>
          <p:cNvSpPr/>
          <p:nvPr/>
        </p:nvSpPr>
        <p:spPr>
          <a:xfrm>
            <a:off x="5617633" y="1954944"/>
            <a:ext cx="7493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E04A3A"/>
                </a:solidFill>
                <a:latin typeface="Plus Jakarta Sans" pitchFamily="34" charset="0"/>
                <a:ea typeface="Plus Jakarta Sans" pitchFamily="34" charset="-122"/>
                <a:cs typeface="Plus Jakarta Sans" pitchFamily="34" charset="-120"/>
              </a:rPr>
              <a:t>$62,796</a:t>
            </a:r>
            <a:endParaRPr lang="en-US" sz="1200" dirty="0"/>
          </a:p>
        </p:txBody>
      </p:sp>
      <p:sp>
        <p:nvSpPr>
          <p:cNvPr id="15" name="Text 12"/>
          <p:cNvSpPr/>
          <p:nvPr/>
        </p:nvSpPr>
        <p:spPr>
          <a:xfrm>
            <a:off x="6379633" y="3675794"/>
            <a:ext cx="7493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E9F7E"/>
                </a:solidFill>
                <a:latin typeface="Plus Jakarta Sans" pitchFamily="34" charset="0"/>
                <a:ea typeface="Plus Jakarta Sans" pitchFamily="34" charset="-122"/>
                <a:cs typeface="Plus Jakarta Sans" pitchFamily="34" charset="-120"/>
              </a:rPr>
              <a:t>$82,509</a:t>
            </a:r>
            <a:endParaRPr lang="en-US" sz="1200" dirty="0"/>
          </a:p>
        </p:txBody>
      </p:sp>
      <p:sp>
        <p:nvSpPr>
          <p:cNvPr id="16" name="Text 13"/>
          <p:cNvSpPr/>
          <p:nvPr/>
        </p:nvSpPr>
        <p:spPr>
          <a:xfrm>
            <a:off x="1299633" y="4279044"/>
            <a:ext cx="1511300" cy="256514"/>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6202E"/>
                </a:solidFill>
                <a:latin typeface="Plus Jakarta Sans" pitchFamily="34" charset="0"/>
                <a:ea typeface="Plus Jakarta Sans" pitchFamily="34" charset="-122"/>
                <a:cs typeface="Plus Jakarta Sans" pitchFamily="34" charset="-120"/>
              </a:rPr>
              <a:t>CUNY Hunter</a:t>
            </a:r>
            <a:endParaRPr lang="en-US" sz="1300" dirty="0"/>
          </a:p>
        </p:txBody>
      </p:sp>
      <p:sp>
        <p:nvSpPr>
          <p:cNvPr id="17" name="Text 14"/>
          <p:cNvSpPr/>
          <p:nvPr/>
        </p:nvSpPr>
        <p:spPr>
          <a:xfrm>
            <a:off x="3458633" y="4279044"/>
            <a:ext cx="1511300" cy="256514"/>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6202E"/>
                </a:solidFill>
                <a:latin typeface="Plus Jakarta Sans" pitchFamily="34" charset="0"/>
                <a:ea typeface="Plus Jakarta Sans" pitchFamily="34" charset="-122"/>
                <a:cs typeface="Plus Jakarta Sans" pitchFamily="34" charset="-120"/>
              </a:rPr>
              <a:t>Rutgers-Newark</a:t>
            </a:r>
            <a:endParaRPr lang="en-US" sz="1300" dirty="0"/>
          </a:p>
        </p:txBody>
      </p:sp>
      <p:sp>
        <p:nvSpPr>
          <p:cNvPr id="18" name="Text 15"/>
          <p:cNvSpPr/>
          <p:nvPr/>
        </p:nvSpPr>
        <p:spPr>
          <a:xfrm>
            <a:off x="5617633" y="4279044"/>
            <a:ext cx="1511300" cy="256514"/>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6202E"/>
                </a:solidFill>
                <a:latin typeface="Plus Jakarta Sans" pitchFamily="34" charset="0"/>
                <a:ea typeface="Plus Jakarta Sans" pitchFamily="34" charset="-122"/>
                <a:cs typeface="Plus Jakarta Sans" pitchFamily="34" charset="-120"/>
              </a:rPr>
              <a:t>NYU</a:t>
            </a:r>
            <a:endParaRPr lang="en-US" sz="1300" dirty="0"/>
          </a:p>
        </p:txBody>
      </p:sp>
      <p:sp>
        <p:nvSpPr>
          <p:cNvPr id="19" name="Shape 16"/>
          <p:cNvSpPr/>
          <p:nvPr/>
        </p:nvSpPr>
        <p:spPr>
          <a:xfrm>
            <a:off x="7620000" y="1460500"/>
            <a:ext cx="3759200" cy="1617927"/>
          </a:xfrm>
          <a:prstGeom prst="roundRect">
            <a:avLst>
              <a:gd name="adj" fmla="val 9419"/>
            </a:avLst>
          </a:prstGeom>
          <a:gradFill rotWithShape="1">
            <a:gsLst>
              <a:gs pos="0">
                <a:srgbClr val="FF6B5B"/>
              </a:gs>
              <a:gs pos="100000">
                <a:srgbClr val="FFB020"/>
              </a:gs>
            </a:gsLst>
            <a:lin ang="2700000" scaled="0"/>
          </a:gradFill>
          <a:ln/>
        </p:spPr>
      </p:sp>
      <p:sp>
        <p:nvSpPr>
          <p:cNvPr id="20" name="Text 17"/>
          <p:cNvSpPr/>
          <p:nvPr/>
        </p:nvSpPr>
        <p:spPr>
          <a:xfrm>
            <a:off x="7823200" y="1663700"/>
            <a:ext cx="3453384" cy="723900"/>
          </a:xfrm>
          <a:prstGeom prst="rect">
            <a:avLst/>
          </a:prstGeom>
          <a:noFill/>
          <a:ln/>
        </p:spPr>
        <p:txBody>
          <a:bodyPr wrap="square" lIns="0" tIns="0" rIns="0" bIns="0" rtlCol="0" anchor="t">
            <a:normAutofit/>
          </a:bodyPr>
          <a:lstStyle/>
          <a:p>
            <a:pPr algn="l" indent="0" marL="0">
              <a:lnSpc>
                <a:spcPts val="5500"/>
              </a:lnSpc>
              <a:buNone/>
            </a:pPr>
            <a:r>
              <a:rPr lang="en-US" sz="5500" b="1" spc="-100" kern="0" dirty="0">
                <a:solidFill>
                  <a:srgbClr val="F7F4EE"/>
                </a:solidFill>
                <a:latin typeface="Plus Jakarta Sans" pitchFamily="34" charset="0"/>
                <a:ea typeface="Plus Jakarta Sans" pitchFamily="34" charset="-122"/>
                <a:cs typeface="Plus Jakarta Sans" pitchFamily="34" charset="-120"/>
              </a:rPr>
              <a:t>8.5x</a:t>
            </a:r>
            <a:endParaRPr lang="en-US" sz="5500" dirty="0"/>
          </a:p>
        </p:txBody>
      </p:sp>
      <p:sp>
        <p:nvSpPr>
          <p:cNvPr id="21" name="Text 18"/>
          <p:cNvSpPr/>
          <p:nvPr/>
        </p:nvSpPr>
        <p:spPr>
          <a:xfrm>
            <a:off x="7823200" y="2413000"/>
            <a:ext cx="3453384" cy="487627"/>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7F4EE"/>
                </a:solidFill>
                <a:latin typeface="Plus Jakarta Sans" pitchFamily="34" charset="0"/>
                <a:ea typeface="Plus Jakarta Sans" pitchFamily="34" charset="-122"/>
                <a:cs typeface="Plus Jakarta Sans" pitchFamily="34" charset="-120"/>
              </a:rPr>
              <a:t>NYU tuition vs. Hunter ($62,796 vs. $7,382)</a:t>
            </a:r>
            <a:endParaRPr lang="en-US" sz="1400" dirty="0"/>
          </a:p>
        </p:txBody>
      </p:sp>
      <p:sp>
        <p:nvSpPr>
          <p:cNvPr id="22" name="Shape 19"/>
          <p:cNvSpPr/>
          <p:nvPr/>
        </p:nvSpPr>
        <p:spPr>
          <a:xfrm>
            <a:off x="7623175" y="3234004"/>
            <a:ext cx="3752850" cy="1620044"/>
          </a:xfrm>
          <a:prstGeom prst="roundRect">
            <a:avLst>
              <a:gd name="adj" fmla="val 9211"/>
            </a:avLst>
          </a:prstGeom>
          <a:solidFill>
            <a:srgbClr val="FFFFFF"/>
          </a:solidFill>
          <a:ln w="6350">
            <a:solidFill>
              <a:srgbClr val="B5C7CC"/>
            </a:solidFill>
            <a:prstDash val="solid"/>
          </a:ln>
        </p:spPr>
      </p:sp>
      <p:sp>
        <p:nvSpPr>
          <p:cNvPr id="23" name="Text 20"/>
          <p:cNvSpPr/>
          <p:nvPr/>
        </p:nvSpPr>
        <p:spPr>
          <a:xfrm>
            <a:off x="7827434" y="3438265"/>
            <a:ext cx="3444663" cy="723900"/>
          </a:xfrm>
          <a:prstGeom prst="rect">
            <a:avLst/>
          </a:prstGeom>
          <a:noFill/>
          <a:ln/>
        </p:spPr>
        <p:txBody>
          <a:bodyPr wrap="square" lIns="0" tIns="0" rIns="0" bIns="0" rtlCol="0" anchor="t">
            <a:normAutofit/>
          </a:bodyPr>
          <a:lstStyle/>
          <a:p>
            <a:pPr algn="l" indent="0" marL="0">
              <a:lnSpc>
                <a:spcPts val="5500"/>
              </a:lnSpc>
              <a:buNone/>
            </a:pPr>
            <a:r>
              <a:rPr lang="en-US" sz="5500" b="1" spc="-100" kern="0" dirty="0">
                <a:solidFill>
                  <a:srgbClr val="0E9F7E"/>
                </a:solidFill>
                <a:latin typeface="Plus Jakarta Sans" pitchFamily="34" charset="0"/>
                <a:ea typeface="Plus Jakarta Sans" pitchFamily="34" charset="-122"/>
                <a:cs typeface="Plus Jakarta Sans" pitchFamily="34" charset="-120"/>
              </a:rPr>
              <a:t>1.3x</a:t>
            </a:r>
            <a:endParaRPr lang="en-US" sz="5500" dirty="0"/>
          </a:p>
        </p:txBody>
      </p:sp>
      <p:sp>
        <p:nvSpPr>
          <p:cNvPr id="24" name="Text 21"/>
          <p:cNvSpPr/>
          <p:nvPr/>
        </p:nvSpPr>
        <p:spPr>
          <a:xfrm>
            <a:off x="7827434" y="4187565"/>
            <a:ext cx="3444663" cy="487627"/>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D4A5C"/>
                </a:solidFill>
                <a:latin typeface="Plus Jakarta Sans" pitchFamily="34" charset="0"/>
                <a:ea typeface="Plus Jakarta Sans" pitchFamily="34" charset="-122"/>
                <a:cs typeface="Plus Jakarta Sans" pitchFamily="34" charset="-120"/>
              </a:rPr>
              <a:t>NYU earnings vs. Hunter ($82,509 vs. $63,163)</a:t>
            </a:r>
            <a:endParaRPr lang="en-US" sz="1400" dirty="0"/>
          </a:p>
        </p:txBody>
      </p:sp>
      <p:sp>
        <p:nvSpPr>
          <p:cNvPr id="25"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Hunter and Rutgers-Newark at in-state tuition · Earnings: median 10 years after entry, federal-aid recipients · Source: College Scorecard</a:t>
            </a:r>
            <a:endParaRPr lang="en-US" sz="1200" dirty="0"/>
          </a:p>
        </p:txBody>
      </p:sp>
      <p:sp>
        <p:nvSpPr>
          <p:cNvPr id="26" name="Slide Number Placehold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6202E"/>
                </a:solidFill>
                <a:latin typeface="Plus Jakarta Sans" pitchFamily="34" charset="0"/>
                <a:ea typeface="Plus Jakarta Sans" pitchFamily="34" charset="-122"/>
                <a:cs typeface="Plus Jakarta Sans" pitchFamily="34" charset="-120"/>
              </a:rPr>
              <a:t>NYU is the 16th hardest school to get into, yet ranks 176th of 199 on value</a:t>
            </a:r>
            <a:endParaRPr lang="en-US" sz="3000" dirty="0"/>
          </a:p>
        </p:txBody>
      </p:sp>
      <p:sp>
        <p:nvSpPr>
          <p:cNvPr id="3" name="Shape 1"/>
          <p:cNvSpPr/>
          <p:nvPr/>
        </p:nvSpPr>
        <p:spPr>
          <a:xfrm>
            <a:off x="815975" y="1882775"/>
            <a:ext cx="3383095" cy="2605551"/>
          </a:xfrm>
          <a:prstGeom prst="roundRect">
            <a:avLst>
              <a:gd name="adj" fmla="val 5727"/>
            </a:avLst>
          </a:prstGeom>
          <a:solidFill>
            <a:srgbClr val="FFFFFF"/>
          </a:solidFill>
          <a:ln w="6350">
            <a:solidFill>
              <a:srgbClr val="B5C7CC"/>
            </a:solidFill>
            <a:prstDash val="solid"/>
          </a:ln>
        </p:spPr>
      </p:sp>
      <p:sp>
        <p:nvSpPr>
          <p:cNvPr id="4" name="Text 2"/>
          <p:cNvSpPr/>
          <p:nvPr/>
        </p:nvSpPr>
        <p:spPr>
          <a:xfrm>
            <a:off x="1632731" y="2061635"/>
            <a:ext cx="1749584" cy="23872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0F4C5C"/>
                </a:solidFill>
                <a:latin typeface="JetBrains Mono" pitchFamily="49" charset="0"/>
                <a:ea typeface="JetBrains Mono" pitchFamily="49" charset="-122"/>
                <a:cs typeface="JetBrains Mono" pitchFamily="49" charset="-120"/>
              </a:rPr>
              <a:t>ADMISSION RATE</a:t>
            </a:r>
            <a:endParaRPr lang="en-US" sz="1200" dirty="0"/>
          </a:p>
        </p:txBody>
      </p:sp>
      <p:pic>
        <p:nvPicPr>
          <p:cNvPr id="5" name="Image 0" descr="Ring gauge: NYU admits 9.2% of applicants">    </p:cNvPr>
          <p:cNvPicPr>
            <a:picLocks noChangeAspect="1"/>
          </p:cNvPicPr>
          <p:nvPr/>
        </p:nvPicPr>
        <p:blipFill>
          <a:blip r:embed="rId1"/>
          <a:srcRect l="0" r="0" t="0" b="0"/>
          <a:stretch/>
        </p:blipFill>
        <p:spPr>
          <a:xfrm>
            <a:off x="1682023" y="2351156"/>
            <a:ext cx="1651000" cy="1651000"/>
          </a:xfrm>
          <a:prstGeom prst="rect">
            <a:avLst/>
          </a:prstGeom>
        </p:spPr>
      </p:pic>
      <p:sp>
        <p:nvSpPr>
          <p:cNvPr id="6" name="Text 3"/>
          <p:cNvSpPr/>
          <p:nvPr/>
        </p:nvSpPr>
        <p:spPr>
          <a:xfrm>
            <a:off x="1656623" y="2884556"/>
            <a:ext cx="1701800" cy="431800"/>
          </a:xfrm>
          <a:prstGeom prst="rect">
            <a:avLst/>
          </a:prstGeom>
          <a:noFill/>
          <a:ln/>
        </p:spPr>
        <p:txBody>
          <a:bodyPr wrap="square" lIns="0" tIns="0" rIns="0" bIns="0" rtlCol="0" anchor="t">
            <a:normAutofit/>
          </a:bodyPr>
          <a:lstStyle/>
          <a:p>
            <a:pPr algn="ctr" indent="0" marL="0">
              <a:lnSpc>
                <a:spcPts val="3200"/>
              </a:lnSpc>
              <a:buNone/>
            </a:pPr>
            <a:r>
              <a:rPr lang="en-US" sz="3200" b="1" dirty="0">
                <a:solidFill>
                  <a:srgbClr val="16202E"/>
                </a:solidFill>
                <a:latin typeface="Plus Jakarta Sans" pitchFamily="34" charset="0"/>
                <a:ea typeface="Plus Jakarta Sans" pitchFamily="34" charset="-122"/>
                <a:cs typeface="Plus Jakarta Sans" pitchFamily="34" charset="-120"/>
              </a:rPr>
              <a:t>9.2%</a:t>
            </a:r>
            <a:endParaRPr lang="en-US" sz="3200" dirty="0"/>
          </a:p>
        </p:txBody>
      </p:sp>
      <p:sp>
        <p:nvSpPr>
          <p:cNvPr id="7" name="Text 4"/>
          <p:cNvSpPr/>
          <p:nvPr/>
        </p:nvSpPr>
        <p:spPr>
          <a:xfrm>
            <a:off x="1656623" y="3341756"/>
            <a:ext cx="170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admitted</a:t>
            </a:r>
            <a:endParaRPr lang="en-US" sz="1200" dirty="0"/>
          </a:p>
        </p:txBody>
      </p:sp>
      <p:sp>
        <p:nvSpPr>
          <p:cNvPr id="8" name="Text 5"/>
          <p:cNvSpPr/>
          <p:nvPr/>
        </p:nvSpPr>
        <p:spPr>
          <a:xfrm>
            <a:off x="1178467" y="4078356"/>
            <a:ext cx="2658110" cy="256514"/>
          </a:xfrm>
          <a:prstGeom prst="rect">
            <a:avLst/>
          </a:prstGeom>
          <a:noFill/>
          <a:ln/>
        </p:spPr>
        <p:txBody>
          <a:bodyPr wrap="square" lIns="0" tIns="0" rIns="0" bIns="0" rtlCol="0" anchor="t">
            <a:normAutofit/>
          </a:bodyPr>
          <a:lstStyle/>
          <a:p>
            <a:pPr algn="ctr" indent="0" marL="0">
              <a:lnSpc>
                <a:spcPts val="1820"/>
              </a:lnSpc>
              <a:buNone/>
            </a:pPr>
            <a:r>
              <a:rPr lang="en-US" sz="1400" dirty="0">
                <a:solidFill>
                  <a:srgbClr val="3D4A5C"/>
                </a:solidFill>
                <a:latin typeface="Plus Jakarta Sans" pitchFamily="34" charset="0"/>
                <a:ea typeface="Plus Jakarta Sans" pitchFamily="34" charset="-122"/>
                <a:cs typeface="Plus Jakarta Sans" pitchFamily="34" charset="-120"/>
              </a:rPr>
              <a:t>16th most selective of 200</a:t>
            </a:r>
            <a:endParaRPr lang="en-US" sz="1400" dirty="0"/>
          </a:p>
        </p:txBody>
      </p:sp>
      <p:sp>
        <p:nvSpPr>
          <p:cNvPr id="9" name="Shape 6"/>
          <p:cNvSpPr/>
          <p:nvPr/>
        </p:nvSpPr>
        <p:spPr>
          <a:xfrm>
            <a:off x="4408620" y="1882775"/>
            <a:ext cx="3383161" cy="2605551"/>
          </a:xfrm>
          <a:prstGeom prst="roundRect">
            <a:avLst>
              <a:gd name="adj" fmla="val 5727"/>
            </a:avLst>
          </a:prstGeom>
          <a:solidFill>
            <a:srgbClr val="FFFFFF"/>
          </a:solidFill>
          <a:ln w="6350">
            <a:solidFill>
              <a:srgbClr val="B5C7CC"/>
            </a:solidFill>
            <a:prstDash val="solid"/>
          </a:ln>
        </p:spPr>
      </p:sp>
      <p:sp>
        <p:nvSpPr>
          <p:cNvPr id="10" name="Text 7"/>
          <p:cNvSpPr/>
          <p:nvPr/>
        </p:nvSpPr>
        <p:spPr>
          <a:xfrm>
            <a:off x="5100433" y="2061635"/>
            <a:ext cx="1999536" cy="23872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0F4C5C"/>
                </a:solidFill>
                <a:latin typeface="JetBrains Mono" pitchFamily="49" charset="0"/>
                <a:ea typeface="JetBrains Mono" pitchFamily="49" charset="-122"/>
                <a:cs typeface="JetBrains Mono" pitchFamily="49" charset="-120"/>
              </a:rPr>
              <a:t>10-YEAR EARNINGS</a:t>
            </a:r>
            <a:endParaRPr lang="en-US" sz="1200" dirty="0"/>
          </a:p>
        </p:txBody>
      </p:sp>
      <p:pic>
        <p:nvPicPr>
          <p:cNvPr id="11" name="Image 1" descr="Ring gauge: NYU earnings rank 48th of 200, the 76th percentile">    </p:cNvPr>
          <p:cNvPicPr>
            <a:picLocks noChangeAspect="1"/>
          </p:cNvPicPr>
          <p:nvPr/>
        </p:nvPicPr>
        <p:blipFill>
          <a:blip r:embed="rId2"/>
          <a:srcRect l="0" r="0" t="0" b="0"/>
          <a:stretch/>
        </p:blipFill>
        <p:spPr>
          <a:xfrm>
            <a:off x="5274667" y="2351156"/>
            <a:ext cx="1651000" cy="1651000"/>
          </a:xfrm>
          <a:prstGeom prst="rect">
            <a:avLst/>
          </a:prstGeom>
        </p:spPr>
      </p:pic>
      <p:sp>
        <p:nvSpPr>
          <p:cNvPr id="12" name="Text 8"/>
          <p:cNvSpPr/>
          <p:nvPr/>
        </p:nvSpPr>
        <p:spPr>
          <a:xfrm>
            <a:off x="5249267" y="2884556"/>
            <a:ext cx="1701800" cy="431800"/>
          </a:xfrm>
          <a:prstGeom prst="rect">
            <a:avLst/>
          </a:prstGeom>
          <a:noFill/>
          <a:ln/>
        </p:spPr>
        <p:txBody>
          <a:bodyPr wrap="square" lIns="0" tIns="0" rIns="0" bIns="0" rtlCol="0" anchor="t">
            <a:normAutofit/>
          </a:bodyPr>
          <a:lstStyle/>
          <a:p>
            <a:pPr algn="ctr" indent="0" marL="0">
              <a:lnSpc>
                <a:spcPts val="3200"/>
              </a:lnSpc>
              <a:buNone/>
            </a:pPr>
            <a:r>
              <a:rPr lang="en-US" sz="3200" b="1" dirty="0">
                <a:solidFill>
                  <a:srgbClr val="16202E"/>
                </a:solidFill>
                <a:latin typeface="Plus Jakarta Sans" pitchFamily="34" charset="0"/>
                <a:ea typeface="Plus Jakarta Sans" pitchFamily="34" charset="-122"/>
                <a:cs typeface="Plus Jakarta Sans" pitchFamily="34" charset="-120"/>
              </a:rPr>
              <a:t>48th</a:t>
            </a:r>
            <a:endParaRPr lang="en-US" sz="3200" dirty="0"/>
          </a:p>
        </p:txBody>
      </p:sp>
      <p:sp>
        <p:nvSpPr>
          <p:cNvPr id="13" name="Text 9"/>
          <p:cNvSpPr/>
          <p:nvPr/>
        </p:nvSpPr>
        <p:spPr>
          <a:xfrm>
            <a:off x="5249267" y="3341756"/>
            <a:ext cx="170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of 200</a:t>
            </a:r>
            <a:endParaRPr lang="en-US" sz="1200" dirty="0"/>
          </a:p>
        </p:txBody>
      </p:sp>
      <p:sp>
        <p:nvSpPr>
          <p:cNvPr id="14" name="Text 10"/>
          <p:cNvSpPr/>
          <p:nvPr/>
        </p:nvSpPr>
        <p:spPr>
          <a:xfrm>
            <a:off x="4649979" y="4078356"/>
            <a:ext cx="2900442" cy="256514"/>
          </a:xfrm>
          <a:prstGeom prst="rect">
            <a:avLst/>
          </a:prstGeom>
          <a:noFill/>
          <a:ln/>
        </p:spPr>
        <p:txBody>
          <a:bodyPr wrap="square" lIns="0" tIns="0" rIns="0" bIns="0" rtlCol="0" anchor="t">
            <a:normAutofit/>
          </a:bodyPr>
          <a:lstStyle/>
          <a:p>
            <a:pPr algn="ctr" indent="0" marL="0">
              <a:lnSpc>
                <a:spcPts val="1820"/>
              </a:lnSpc>
              <a:buNone/>
            </a:pPr>
            <a:r>
              <a:rPr lang="en-US" sz="1400" dirty="0">
                <a:solidFill>
                  <a:srgbClr val="3D4A5C"/>
                </a:solidFill>
                <a:latin typeface="Plus Jakarta Sans" pitchFamily="34" charset="0"/>
                <a:ea typeface="Plus Jakarta Sans" pitchFamily="34" charset="-122"/>
                <a:cs typeface="Plus Jakarta Sans" pitchFamily="34" charset="-120"/>
              </a:rPr>
              <a:t>$82,509 median, top quarter</a:t>
            </a:r>
            <a:endParaRPr lang="en-US" sz="1400" dirty="0"/>
          </a:p>
        </p:txBody>
      </p:sp>
      <p:sp>
        <p:nvSpPr>
          <p:cNvPr id="15" name="Shape 11"/>
          <p:cNvSpPr/>
          <p:nvPr/>
        </p:nvSpPr>
        <p:spPr>
          <a:xfrm>
            <a:off x="7998156" y="1879600"/>
            <a:ext cx="3381044" cy="2611901"/>
          </a:xfrm>
          <a:prstGeom prst="roundRect">
            <a:avLst>
              <a:gd name="adj" fmla="val 5835"/>
            </a:avLst>
          </a:prstGeom>
          <a:solidFill>
            <a:srgbClr val="0F4C5C"/>
          </a:solidFill>
          <a:ln/>
        </p:spPr>
      </p:sp>
      <p:sp>
        <p:nvSpPr>
          <p:cNvPr id="16" name="Text 12"/>
          <p:cNvSpPr/>
          <p:nvPr/>
        </p:nvSpPr>
        <p:spPr>
          <a:xfrm>
            <a:off x="8438965" y="2057400"/>
            <a:ext cx="2499360" cy="23872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A9D6E0"/>
                </a:solidFill>
                <a:latin typeface="JetBrains Mono" pitchFamily="49" charset="0"/>
                <a:ea typeface="JetBrains Mono" pitchFamily="49" charset="-122"/>
                <a:cs typeface="JetBrains Mono" pitchFamily="49" charset="-120"/>
              </a:rPr>
              <a:t>RETURN PER TUITION-$</a:t>
            </a:r>
            <a:endParaRPr lang="en-US" sz="1200" dirty="0"/>
          </a:p>
        </p:txBody>
      </p:sp>
      <p:pic>
        <p:nvPicPr>
          <p:cNvPr id="17" name="Image 2" descr="Ring gauge: NYU ranks 176th of 199 on return per tuition-dollar, about the 12th percentile">    </p:cNvPr>
          <p:cNvPicPr>
            <a:picLocks noChangeAspect="1"/>
          </p:cNvPicPr>
          <p:nvPr/>
        </p:nvPicPr>
        <p:blipFill>
          <a:blip r:embed="rId3"/>
          <a:srcRect l="0" r="0" t="0" b="0"/>
          <a:stretch/>
        </p:blipFill>
        <p:spPr>
          <a:xfrm>
            <a:off x="8863145" y="2346920"/>
            <a:ext cx="1651000" cy="1651000"/>
          </a:xfrm>
          <a:prstGeom prst="rect">
            <a:avLst/>
          </a:prstGeom>
        </p:spPr>
      </p:pic>
      <p:sp>
        <p:nvSpPr>
          <p:cNvPr id="18" name="Text 13"/>
          <p:cNvSpPr/>
          <p:nvPr/>
        </p:nvSpPr>
        <p:spPr>
          <a:xfrm>
            <a:off x="8837745" y="2880320"/>
            <a:ext cx="1701800" cy="431800"/>
          </a:xfrm>
          <a:prstGeom prst="rect">
            <a:avLst/>
          </a:prstGeom>
          <a:noFill/>
          <a:ln/>
        </p:spPr>
        <p:txBody>
          <a:bodyPr wrap="square" lIns="0" tIns="0" rIns="0" bIns="0" rtlCol="0" anchor="t">
            <a:normAutofit/>
          </a:bodyPr>
          <a:lstStyle/>
          <a:p>
            <a:pPr algn="ctr" indent="0" marL="0">
              <a:lnSpc>
                <a:spcPts val="3200"/>
              </a:lnSpc>
              <a:buNone/>
            </a:pPr>
            <a:r>
              <a:rPr lang="en-US" sz="3200" b="1" dirty="0">
                <a:solidFill>
                  <a:srgbClr val="F7F4EE"/>
                </a:solidFill>
                <a:latin typeface="Plus Jakarta Sans" pitchFamily="34" charset="0"/>
                <a:ea typeface="Plus Jakarta Sans" pitchFamily="34" charset="-122"/>
                <a:cs typeface="Plus Jakarta Sans" pitchFamily="34" charset="-120"/>
              </a:rPr>
              <a:t>176th</a:t>
            </a:r>
            <a:endParaRPr lang="en-US" sz="3200" dirty="0"/>
          </a:p>
        </p:txBody>
      </p:sp>
      <p:sp>
        <p:nvSpPr>
          <p:cNvPr id="19" name="Text 14"/>
          <p:cNvSpPr/>
          <p:nvPr/>
        </p:nvSpPr>
        <p:spPr>
          <a:xfrm>
            <a:off x="8837745" y="3337520"/>
            <a:ext cx="170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D6E0"/>
                </a:solidFill>
                <a:latin typeface="Plus Jakarta Sans" pitchFamily="34" charset="0"/>
                <a:ea typeface="Plus Jakarta Sans" pitchFamily="34" charset="-122"/>
                <a:cs typeface="Plus Jakarta Sans" pitchFamily="34" charset="-120"/>
              </a:rPr>
              <a:t>of 199</a:t>
            </a:r>
            <a:endParaRPr lang="en-US" sz="1200" dirty="0"/>
          </a:p>
        </p:txBody>
      </p:sp>
      <p:sp>
        <p:nvSpPr>
          <p:cNvPr id="20" name="Text 15"/>
          <p:cNvSpPr/>
          <p:nvPr/>
        </p:nvSpPr>
        <p:spPr>
          <a:xfrm>
            <a:off x="8240283" y="4074120"/>
            <a:ext cx="2896791" cy="256514"/>
          </a:xfrm>
          <a:prstGeom prst="rect">
            <a:avLst/>
          </a:prstGeom>
          <a:noFill/>
          <a:ln/>
        </p:spPr>
        <p:txBody>
          <a:bodyPr wrap="square" lIns="0" tIns="0" rIns="0" bIns="0" rtlCol="0" anchor="t">
            <a:normAutofit/>
          </a:bodyPr>
          <a:lstStyle/>
          <a:p>
            <a:pPr algn="ctr" indent="0" marL="0">
              <a:lnSpc>
                <a:spcPts val="1820"/>
              </a:lnSpc>
              <a:buNone/>
            </a:pPr>
            <a:r>
              <a:rPr lang="en-US" sz="1400" dirty="0">
                <a:solidFill>
                  <a:srgbClr val="F7F4EE"/>
                </a:solidFill>
                <a:latin typeface="Plus Jakarta Sans" pitchFamily="34" charset="0"/>
                <a:ea typeface="Plus Jakarta Sans" pitchFamily="34" charset="-122"/>
                <a:cs typeface="Plus Jakarta Sans" pitchFamily="34" charset="-120"/>
              </a:rPr>
              <a:t>$0.33 per $1 vs. $1.11 average</a:t>
            </a:r>
            <a:endParaRPr lang="en-US" sz="1400" dirty="0"/>
          </a:p>
        </p:txBody>
      </p:sp>
      <p:sp>
        <p:nvSpPr>
          <p:cNvPr id="21" name="Text 16"/>
          <p:cNvSpPr/>
          <p:nvPr/>
        </p:nvSpPr>
        <p:spPr>
          <a:xfrm>
            <a:off x="812800" y="4720103"/>
            <a:ext cx="10883392"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Plus Jakarta Sans" pitchFamily="34" charset="0"/>
                <a:ea typeface="Plus Jakarta Sans" pitchFamily="34" charset="-122"/>
                <a:cs typeface="Plus Jakarta Sans" pitchFamily="34" charset="-120"/>
              </a:rPr>
              <a:t>The 55 schools charging over $50,000 a year average $87,174 in earnings, $4,665 more than NYU. Its 88.0% completion rate does beat that group’s 86.2%.</a:t>
            </a:r>
            <a:endParaRPr lang="en-US" sz="1400" dirty="0"/>
          </a:p>
        </p:txBody>
      </p:sp>
      <p:sp>
        <p:nvSpPr>
          <p:cNvPr id="22"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Admission ring = rate; other rings = percentile among schools · Value uses sticker price, not aid · Source: College Scorecard</a:t>
            </a:r>
            <a:endParaRPr lang="en-US" sz="1200" dirty="0"/>
          </a:p>
        </p:txBody>
      </p:sp>
      <p:sp>
        <p:nvSpPr>
          <p:cNvPr id="23" name="Slide Number Placehold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27"/>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202E"/>
                </a:solidFill>
                <a:latin typeface="Plus Jakarta Sans" pitchFamily="34" charset="0"/>
                <a:ea typeface="Plus Jakarta Sans" pitchFamily="34" charset="-122"/>
                <a:cs typeface="Plus Jakarta Sans" pitchFamily="34" charset="-120"/>
              </a:rPr>
              <a:t>Hunter’s bargain has a catch: only 58.8% of students finish</a:t>
            </a:r>
            <a:endParaRPr lang="en-US" sz="3200" dirty="0"/>
          </a:p>
        </p:txBody>
      </p:sp>
      <p:sp>
        <p:nvSpPr>
          <p:cNvPr id="3" name="Shape 1"/>
          <p:cNvSpPr/>
          <p:nvPr/>
        </p:nvSpPr>
        <p:spPr>
          <a:xfrm>
            <a:off x="815975" y="1938604"/>
            <a:ext cx="3383095" cy="2836664"/>
          </a:xfrm>
          <a:prstGeom prst="roundRect">
            <a:avLst>
              <a:gd name="adj" fmla="val 5261"/>
            </a:avLst>
          </a:prstGeom>
          <a:solidFill>
            <a:srgbClr val="FFFFFF"/>
          </a:solidFill>
          <a:ln w="6350">
            <a:solidFill>
              <a:srgbClr val="B5C7CC"/>
            </a:solidFill>
            <a:prstDash val="solid"/>
          </a:ln>
        </p:spPr>
      </p:sp>
      <p:sp>
        <p:nvSpPr>
          <p:cNvPr id="4" name="Text 2"/>
          <p:cNvSpPr/>
          <p:nvPr/>
        </p:nvSpPr>
        <p:spPr>
          <a:xfrm>
            <a:off x="1257842" y="2117465"/>
            <a:ext cx="2499360" cy="23872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0F4C5C"/>
                </a:solidFill>
                <a:latin typeface="JetBrains Mono" pitchFamily="49" charset="0"/>
                <a:ea typeface="JetBrains Mono" pitchFamily="49" charset="-122"/>
                <a:cs typeface="JetBrains Mono" pitchFamily="49" charset="-120"/>
              </a:rPr>
              <a:t>RETURN PER TUITION-$</a:t>
            </a:r>
            <a:endParaRPr lang="en-US" sz="1200" dirty="0"/>
          </a:p>
        </p:txBody>
      </p:sp>
      <p:pic>
        <p:nvPicPr>
          <p:cNvPr id="5" name="Image 0" descr="Ring gauge: Hunter ranks in the top 9% of schools on return per tuition-dollar (91st percentile).">    </p:cNvPr>
          <p:cNvPicPr>
            <a:picLocks noChangeAspect="1"/>
          </p:cNvPicPr>
          <p:nvPr/>
        </p:nvPicPr>
        <p:blipFill>
          <a:blip r:embed="rId1"/>
          <a:srcRect l="0" r="0" t="0" b="0"/>
          <a:stretch/>
        </p:blipFill>
        <p:spPr>
          <a:xfrm>
            <a:off x="1682023" y="2406985"/>
            <a:ext cx="1651000" cy="1651000"/>
          </a:xfrm>
          <a:prstGeom prst="rect">
            <a:avLst/>
          </a:prstGeom>
        </p:spPr>
      </p:pic>
      <p:sp>
        <p:nvSpPr>
          <p:cNvPr id="6" name="Text 3"/>
          <p:cNvSpPr/>
          <p:nvPr/>
        </p:nvSpPr>
        <p:spPr>
          <a:xfrm>
            <a:off x="1656623" y="2940385"/>
            <a:ext cx="1701800" cy="431800"/>
          </a:xfrm>
          <a:prstGeom prst="rect">
            <a:avLst/>
          </a:prstGeom>
          <a:noFill/>
          <a:ln/>
        </p:spPr>
        <p:txBody>
          <a:bodyPr wrap="square" lIns="0" tIns="0" rIns="0" bIns="0" rtlCol="0" anchor="t">
            <a:normAutofit/>
          </a:bodyPr>
          <a:lstStyle/>
          <a:p>
            <a:pPr algn="ctr" indent="0" marL="0">
              <a:lnSpc>
                <a:spcPts val="3200"/>
              </a:lnSpc>
              <a:buNone/>
            </a:pPr>
            <a:r>
              <a:rPr lang="en-US" sz="3200" b="1" dirty="0">
                <a:solidFill>
                  <a:srgbClr val="16202E"/>
                </a:solidFill>
                <a:latin typeface="Plus Jakarta Sans" pitchFamily="34" charset="0"/>
                <a:ea typeface="Plus Jakarta Sans" pitchFamily="34" charset="-122"/>
                <a:cs typeface="Plus Jakarta Sans" pitchFamily="34" charset="-120"/>
              </a:rPr>
              <a:t>18th</a:t>
            </a:r>
            <a:endParaRPr lang="en-US" sz="3200" dirty="0"/>
          </a:p>
        </p:txBody>
      </p:sp>
      <p:sp>
        <p:nvSpPr>
          <p:cNvPr id="7" name="Text 4"/>
          <p:cNvSpPr/>
          <p:nvPr/>
        </p:nvSpPr>
        <p:spPr>
          <a:xfrm>
            <a:off x="1656623" y="3397585"/>
            <a:ext cx="170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of 199</a:t>
            </a:r>
            <a:endParaRPr lang="en-US" sz="1200" dirty="0"/>
          </a:p>
        </p:txBody>
      </p:sp>
      <p:sp>
        <p:nvSpPr>
          <p:cNvPr id="8" name="Text 5"/>
          <p:cNvSpPr/>
          <p:nvPr/>
        </p:nvSpPr>
        <p:spPr>
          <a:xfrm>
            <a:off x="1098457" y="4134185"/>
            <a:ext cx="2818130" cy="256514"/>
          </a:xfrm>
          <a:prstGeom prst="rect">
            <a:avLst/>
          </a:prstGeom>
          <a:noFill/>
          <a:ln/>
        </p:spPr>
        <p:txBody>
          <a:bodyPr wrap="square" lIns="0" tIns="0" rIns="0" bIns="0" rtlCol="0" anchor="t">
            <a:normAutofit/>
          </a:bodyPr>
          <a:lstStyle/>
          <a:p>
            <a:pPr algn="ctr" indent="0" marL="0">
              <a:lnSpc>
                <a:spcPts val="1820"/>
              </a:lnSpc>
              <a:buNone/>
            </a:pPr>
            <a:r>
              <a:rPr lang="en-US" sz="1400" dirty="0">
                <a:solidFill>
                  <a:srgbClr val="3D4A5C"/>
                </a:solidFill>
                <a:latin typeface="Plus Jakarta Sans" pitchFamily="34" charset="0"/>
                <a:ea typeface="Plus Jakarta Sans" pitchFamily="34" charset="-122"/>
                <a:cs typeface="Plus Jakarta Sans" pitchFamily="34" charset="-120"/>
              </a:rPr>
              <a:t>$2.14 per $1 vs. $1.11 average</a:t>
            </a:r>
            <a:endParaRPr lang="en-US" sz="1400" dirty="0"/>
          </a:p>
        </p:txBody>
      </p:sp>
      <p:sp>
        <p:nvSpPr>
          <p:cNvPr id="9" name="Shape 6"/>
          <p:cNvSpPr/>
          <p:nvPr/>
        </p:nvSpPr>
        <p:spPr>
          <a:xfrm>
            <a:off x="4408620" y="1938604"/>
            <a:ext cx="3383161" cy="2836664"/>
          </a:xfrm>
          <a:prstGeom prst="roundRect">
            <a:avLst>
              <a:gd name="adj" fmla="val 5261"/>
            </a:avLst>
          </a:prstGeom>
          <a:solidFill>
            <a:srgbClr val="FFFFFF"/>
          </a:solidFill>
          <a:ln w="6350">
            <a:solidFill>
              <a:srgbClr val="B5C7CC"/>
            </a:solidFill>
            <a:prstDash val="solid"/>
          </a:ln>
        </p:spPr>
      </p:sp>
      <p:sp>
        <p:nvSpPr>
          <p:cNvPr id="10" name="Text 7"/>
          <p:cNvSpPr/>
          <p:nvPr/>
        </p:nvSpPr>
        <p:spPr>
          <a:xfrm>
            <a:off x="5412853" y="2117465"/>
            <a:ext cx="1374696" cy="23872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0F4C5C"/>
                </a:solidFill>
                <a:latin typeface="JetBrains Mono" pitchFamily="49" charset="0"/>
                <a:ea typeface="JetBrains Mono" pitchFamily="49" charset="-122"/>
                <a:cs typeface="JetBrains Mono" pitchFamily="49" charset="-120"/>
              </a:rPr>
              <a:t>DEBT BURDEN</a:t>
            </a:r>
            <a:endParaRPr lang="en-US" sz="1200" dirty="0"/>
          </a:p>
        </p:txBody>
      </p:sp>
      <p:pic>
        <p:nvPicPr>
          <p:cNvPr id="11" name="Image 1" descr="Ring gauge: debt is 17.4% of 10-year earnings; a tick marks the 200-school average of 30.3%.">    </p:cNvPr>
          <p:cNvPicPr>
            <a:picLocks noChangeAspect="1"/>
          </p:cNvPicPr>
          <p:nvPr/>
        </p:nvPicPr>
        <p:blipFill>
          <a:blip r:embed="rId2"/>
          <a:srcRect l="0" r="0" t="0" b="0"/>
          <a:stretch/>
        </p:blipFill>
        <p:spPr>
          <a:xfrm>
            <a:off x="5274667" y="2406985"/>
            <a:ext cx="1651000" cy="1651000"/>
          </a:xfrm>
          <a:prstGeom prst="rect">
            <a:avLst/>
          </a:prstGeom>
        </p:spPr>
      </p:pic>
      <p:sp>
        <p:nvSpPr>
          <p:cNvPr id="12" name="Text 8"/>
          <p:cNvSpPr/>
          <p:nvPr/>
        </p:nvSpPr>
        <p:spPr>
          <a:xfrm>
            <a:off x="5249267" y="2940385"/>
            <a:ext cx="1701800" cy="431800"/>
          </a:xfrm>
          <a:prstGeom prst="rect">
            <a:avLst/>
          </a:prstGeom>
          <a:noFill/>
          <a:ln/>
        </p:spPr>
        <p:txBody>
          <a:bodyPr wrap="square" lIns="0" tIns="0" rIns="0" bIns="0" rtlCol="0" anchor="t">
            <a:normAutofit/>
          </a:bodyPr>
          <a:lstStyle/>
          <a:p>
            <a:pPr algn="ctr" indent="0" marL="0">
              <a:lnSpc>
                <a:spcPts val="3200"/>
              </a:lnSpc>
              <a:buNone/>
            </a:pPr>
            <a:r>
              <a:rPr lang="en-US" sz="3200" b="1" dirty="0">
                <a:solidFill>
                  <a:srgbClr val="16202E"/>
                </a:solidFill>
                <a:latin typeface="Plus Jakarta Sans" pitchFamily="34" charset="0"/>
                <a:ea typeface="Plus Jakarta Sans" pitchFamily="34" charset="-122"/>
                <a:cs typeface="Plus Jakarta Sans" pitchFamily="34" charset="-120"/>
              </a:rPr>
              <a:t>17.4%</a:t>
            </a:r>
            <a:endParaRPr lang="en-US" sz="3200" dirty="0"/>
          </a:p>
        </p:txBody>
      </p:sp>
      <p:sp>
        <p:nvSpPr>
          <p:cNvPr id="13" name="Text 9"/>
          <p:cNvSpPr/>
          <p:nvPr/>
        </p:nvSpPr>
        <p:spPr>
          <a:xfrm>
            <a:off x="5249267" y="3397585"/>
            <a:ext cx="170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of earnings</a:t>
            </a:r>
            <a:endParaRPr lang="en-US" sz="1200" dirty="0"/>
          </a:p>
        </p:txBody>
      </p:sp>
      <p:sp>
        <p:nvSpPr>
          <p:cNvPr id="14" name="Text 10"/>
          <p:cNvSpPr/>
          <p:nvPr/>
        </p:nvSpPr>
        <p:spPr>
          <a:xfrm>
            <a:off x="4568258" y="4134185"/>
            <a:ext cx="3063884" cy="487627"/>
          </a:xfrm>
          <a:prstGeom prst="rect">
            <a:avLst/>
          </a:prstGeom>
          <a:noFill/>
          <a:ln/>
        </p:spPr>
        <p:txBody>
          <a:bodyPr wrap="square" lIns="0" tIns="0" rIns="0" bIns="0" rtlCol="0" anchor="t">
            <a:normAutofit/>
          </a:bodyPr>
          <a:lstStyle/>
          <a:p>
            <a:pPr algn="ctr" indent="0" marL="0">
              <a:lnSpc>
                <a:spcPts val="1820"/>
              </a:lnSpc>
              <a:buNone/>
            </a:pPr>
            <a:r>
              <a:rPr lang="en-US" sz="1400" dirty="0">
                <a:solidFill>
                  <a:srgbClr val="3D4A5C"/>
                </a:solidFill>
                <a:latin typeface="Plus Jakarta Sans" pitchFamily="34" charset="0"/>
                <a:ea typeface="Plus Jakarta Sans" pitchFamily="34" charset="-122"/>
                <a:cs typeface="Plus Jakarta Sans" pitchFamily="34" charset="-120"/>
              </a:rPr>
              <a:t>22nd lowest of 200 · tick = average 30.3%</a:t>
            </a:r>
            <a:endParaRPr lang="en-US" sz="1400" dirty="0"/>
          </a:p>
        </p:txBody>
      </p:sp>
      <p:sp>
        <p:nvSpPr>
          <p:cNvPr id="15" name="Shape 11"/>
          <p:cNvSpPr/>
          <p:nvPr/>
        </p:nvSpPr>
        <p:spPr>
          <a:xfrm>
            <a:off x="7998156" y="1935429"/>
            <a:ext cx="3381044" cy="2843014"/>
          </a:xfrm>
          <a:prstGeom prst="roundRect">
            <a:avLst>
              <a:gd name="adj" fmla="val 5361"/>
            </a:avLst>
          </a:prstGeom>
          <a:solidFill>
            <a:srgbClr val="16202E"/>
          </a:solidFill>
          <a:ln/>
        </p:spPr>
      </p:sp>
      <p:sp>
        <p:nvSpPr>
          <p:cNvPr id="16" name="Text 12"/>
          <p:cNvSpPr/>
          <p:nvPr/>
        </p:nvSpPr>
        <p:spPr>
          <a:xfrm>
            <a:off x="8501433" y="2113229"/>
            <a:ext cx="2374424" cy="23872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A9D6E0"/>
                </a:solidFill>
                <a:latin typeface="JetBrains Mono" pitchFamily="49" charset="0"/>
                <a:ea typeface="JetBrains Mono" pitchFamily="49" charset="-122"/>
                <a:cs typeface="JetBrains Mono" pitchFamily="49" charset="-120"/>
              </a:rPr>
              <a:t>STUDENTS WHO FINISH</a:t>
            </a:r>
            <a:endParaRPr lang="en-US" sz="1200" dirty="0"/>
          </a:p>
        </p:txBody>
      </p:sp>
      <p:pic>
        <p:nvPicPr>
          <p:cNvPr id="17" name="Image 2" descr="Ring gauge: 58.8% of Hunter students finish; a tick marks the 200-school average of 72.5%.">    </p:cNvPr>
          <p:cNvPicPr>
            <a:picLocks noChangeAspect="1"/>
          </p:cNvPicPr>
          <p:nvPr/>
        </p:nvPicPr>
        <p:blipFill>
          <a:blip r:embed="rId3"/>
          <a:srcRect l="0" r="0" t="0" b="0"/>
          <a:stretch/>
        </p:blipFill>
        <p:spPr>
          <a:xfrm>
            <a:off x="8863145" y="2402749"/>
            <a:ext cx="1651000" cy="1651000"/>
          </a:xfrm>
          <a:prstGeom prst="rect">
            <a:avLst/>
          </a:prstGeom>
        </p:spPr>
      </p:pic>
      <p:sp>
        <p:nvSpPr>
          <p:cNvPr id="18" name="Text 13"/>
          <p:cNvSpPr/>
          <p:nvPr/>
        </p:nvSpPr>
        <p:spPr>
          <a:xfrm>
            <a:off x="8837745" y="2936149"/>
            <a:ext cx="1701800" cy="431800"/>
          </a:xfrm>
          <a:prstGeom prst="rect">
            <a:avLst/>
          </a:prstGeom>
          <a:noFill/>
          <a:ln/>
        </p:spPr>
        <p:txBody>
          <a:bodyPr wrap="square" lIns="0" tIns="0" rIns="0" bIns="0" rtlCol="0" anchor="t">
            <a:normAutofit/>
          </a:bodyPr>
          <a:lstStyle/>
          <a:p>
            <a:pPr algn="ctr" indent="0" marL="0">
              <a:lnSpc>
                <a:spcPts val="3200"/>
              </a:lnSpc>
              <a:buNone/>
            </a:pPr>
            <a:r>
              <a:rPr lang="en-US" sz="3200" b="1" dirty="0">
                <a:solidFill>
                  <a:srgbClr val="F7F4EE"/>
                </a:solidFill>
                <a:latin typeface="Plus Jakarta Sans" pitchFamily="34" charset="0"/>
                <a:ea typeface="Plus Jakarta Sans" pitchFamily="34" charset="-122"/>
                <a:cs typeface="Plus Jakarta Sans" pitchFamily="34" charset="-120"/>
              </a:rPr>
              <a:t>58.8%</a:t>
            </a:r>
            <a:endParaRPr lang="en-US" sz="3200" dirty="0"/>
          </a:p>
        </p:txBody>
      </p:sp>
      <p:sp>
        <p:nvSpPr>
          <p:cNvPr id="19" name="Text 14"/>
          <p:cNvSpPr/>
          <p:nvPr/>
        </p:nvSpPr>
        <p:spPr>
          <a:xfrm>
            <a:off x="8837745" y="3393349"/>
            <a:ext cx="170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D6E0"/>
                </a:solidFill>
                <a:latin typeface="Plus Jakarta Sans" pitchFamily="34" charset="0"/>
                <a:ea typeface="Plus Jakarta Sans" pitchFamily="34" charset="-122"/>
                <a:cs typeface="Plus Jakarta Sans" pitchFamily="34" charset="-120"/>
              </a:rPr>
              <a:t>finish</a:t>
            </a:r>
            <a:endParaRPr lang="en-US" sz="1200" dirty="0"/>
          </a:p>
        </p:txBody>
      </p:sp>
      <p:sp>
        <p:nvSpPr>
          <p:cNvPr id="20" name="Text 15"/>
          <p:cNvSpPr/>
          <p:nvPr/>
        </p:nvSpPr>
        <p:spPr>
          <a:xfrm>
            <a:off x="7998156" y="4129949"/>
            <a:ext cx="3380978" cy="256514"/>
          </a:xfrm>
          <a:prstGeom prst="rect">
            <a:avLst/>
          </a:prstGeom>
          <a:noFill/>
          <a:ln/>
        </p:spPr>
        <p:txBody>
          <a:bodyPr wrap="square" lIns="0" tIns="0" rIns="0" bIns="0" rtlCol="0" anchor="t">
            <a:normAutofit/>
          </a:bodyPr>
          <a:lstStyle/>
          <a:p>
            <a:pPr algn="ctr" indent="0" marL="0">
              <a:lnSpc>
                <a:spcPts val="1820"/>
              </a:lnSpc>
              <a:buNone/>
            </a:pPr>
            <a:r>
              <a:rPr lang="en-US" sz="1400" dirty="0">
                <a:solidFill>
                  <a:srgbClr val="F7F4EE"/>
                </a:solidFill>
                <a:latin typeface="Plus Jakarta Sans" pitchFamily="34" charset="0"/>
                <a:ea typeface="Plus Jakarta Sans" pitchFamily="34" charset="-122"/>
                <a:cs typeface="Plus Jakarta Sans" pitchFamily="34" charset="-120"/>
              </a:rPr>
              <a:t>153rd of 200 · tick = average 72.5%</a:t>
            </a:r>
            <a:endParaRPr lang="en-US" sz="1400" dirty="0"/>
          </a:p>
        </p:txBody>
      </p:sp>
      <p:sp>
        <p:nvSpPr>
          <p:cNvPr id="21" name="Text 16"/>
          <p:cNvSpPr/>
          <p:nvPr/>
        </p:nvSpPr>
        <p:spPr>
          <a:xfrm>
            <a:off x="812800" y="5007043"/>
            <a:ext cx="10883392"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Plus Jakarta Sans" pitchFamily="34" charset="0"/>
                <a:ea typeface="Plus Jakarta Sans" pitchFamily="34" charset="-122"/>
                <a:cs typeface="Plus Jakarta Sans" pitchFamily="34" charset="-120"/>
              </a:rPr>
              <a:t>Top-20 value and a light debt load sit next to a bottom-quarter completion rate. The data shows the pattern, not the reason, so ask the school why.</a:t>
            </a:r>
            <a:endParaRPr lang="en-US" sz="1400" dirty="0"/>
          </a:p>
        </p:txBody>
      </p:sp>
      <p:sp>
        <p:nvSpPr>
          <p:cNvPr id="22" name="Text 17"/>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Value ring = percentile among 199 schools · Debt burden = median debt ÷ 10-yr median earnings · Source: College Scorecard, in college-analysis.xlsx</a:t>
            </a:r>
            <a:endParaRPr lang="en-US" sz="1200" dirty="0"/>
          </a:p>
        </p:txBody>
      </p:sp>
      <p:sp>
        <p:nvSpPr>
          <p:cNvPr id="23" name="Slide Number Placehold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27"/>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202E"/>
                </a:solidFill>
                <a:latin typeface="Plus Jakarta Sans" pitchFamily="34" charset="0"/>
                <a:ea typeface="Plus Jakarta Sans" pitchFamily="34" charset="-122"/>
                <a:cs typeface="Plus Jakarta Sans" pitchFamily="34" charset="-120"/>
              </a:rPr>
              <a:t>Rutgers-Newark beats the average school but not its own state</a:t>
            </a:r>
            <a:endParaRPr lang="en-US" sz="3200" dirty="0"/>
          </a:p>
        </p:txBody>
      </p:sp>
      <p:sp>
        <p:nvSpPr>
          <p:cNvPr id="3" name="Shape 1"/>
          <p:cNvSpPr/>
          <p:nvPr/>
        </p:nvSpPr>
        <p:spPr>
          <a:xfrm>
            <a:off x="815975" y="1964004"/>
            <a:ext cx="6343650" cy="2896328"/>
          </a:xfrm>
          <a:prstGeom prst="roundRect">
            <a:avLst>
              <a:gd name="adj" fmla="val 4275"/>
            </a:avLst>
          </a:prstGeom>
          <a:solidFill>
            <a:srgbClr val="FFFFFF"/>
          </a:solidFill>
          <a:ln w="6350">
            <a:solidFill>
              <a:srgbClr val="B5C7CC"/>
            </a:solidFill>
            <a:prstDash val="solid"/>
          </a:ln>
        </p:spPr>
      </p:sp>
      <p:sp>
        <p:nvSpPr>
          <p:cNvPr id="4" name="Text 2"/>
          <p:cNvSpPr/>
          <p:nvPr/>
        </p:nvSpPr>
        <p:spPr>
          <a:xfrm>
            <a:off x="1020233" y="2429210"/>
            <a:ext cx="265914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Plus Jakarta Sans" pitchFamily="34" charset="0"/>
                <a:ea typeface="Plus Jakarta Sans" pitchFamily="34" charset="-122"/>
                <a:cs typeface="Plus Jakarta Sans" pitchFamily="34" charset="-120"/>
              </a:rPr>
              <a:t>Average of all 200 schools</a:t>
            </a:r>
            <a:endParaRPr lang="en-US" sz="1400" dirty="0"/>
          </a:p>
        </p:txBody>
      </p:sp>
      <p:sp>
        <p:nvSpPr>
          <p:cNvPr id="5" name="Text 3"/>
          <p:cNvSpPr/>
          <p:nvPr/>
        </p:nvSpPr>
        <p:spPr>
          <a:xfrm>
            <a:off x="6156299" y="2429210"/>
            <a:ext cx="799068" cy="274307"/>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6202E"/>
                </a:solidFill>
                <a:latin typeface="Plus Jakarta Sans" pitchFamily="34" charset="0"/>
                <a:ea typeface="Plus Jakarta Sans" pitchFamily="34" charset="-122"/>
                <a:cs typeface="Plus Jakarta Sans" pitchFamily="34" charset="-120"/>
              </a:rPr>
              <a:t>$70,114</a:t>
            </a:r>
            <a:endParaRPr lang="en-US" sz="1400" dirty="0"/>
          </a:p>
        </p:txBody>
      </p:sp>
      <p:sp>
        <p:nvSpPr>
          <p:cNvPr id="6" name="Shape 4"/>
          <p:cNvSpPr/>
          <p:nvPr/>
        </p:nvSpPr>
        <p:spPr>
          <a:xfrm>
            <a:off x="1020233" y="2728913"/>
            <a:ext cx="5200650" cy="254000"/>
          </a:xfrm>
          <a:prstGeom prst="roundRect">
            <a:avLst>
              <a:gd name="adj" fmla="val 20000"/>
            </a:avLst>
          </a:prstGeom>
          <a:solidFill>
            <a:srgbClr val="B5C7CC"/>
          </a:solidFill>
          <a:ln/>
        </p:spPr>
      </p:sp>
      <p:sp>
        <p:nvSpPr>
          <p:cNvPr id="7" name="Text 5"/>
          <p:cNvSpPr/>
          <p:nvPr/>
        </p:nvSpPr>
        <p:spPr>
          <a:xfrm>
            <a:off x="1020233" y="3135313"/>
            <a:ext cx="287401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4C5C"/>
                </a:solidFill>
                <a:latin typeface="Plus Jakarta Sans" pitchFamily="34" charset="0"/>
                <a:ea typeface="Plus Jakarta Sans" pitchFamily="34" charset="-122"/>
                <a:cs typeface="Plus Jakarta Sans" pitchFamily="34" charset="-120"/>
              </a:rPr>
              <a:t>Rutgers-Newark graduates</a:t>
            </a:r>
            <a:endParaRPr lang="en-US" sz="1400" dirty="0"/>
          </a:p>
        </p:txBody>
      </p:sp>
      <p:sp>
        <p:nvSpPr>
          <p:cNvPr id="8" name="Text 6"/>
          <p:cNvSpPr/>
          <p:nvPr/>
        </p:nvSpPr>
        <p:spPr>
          <a:xfrm>
            <a:off x="6093593" y="3135313"/>
            <a:ext cx="861774" cy="274307"/>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0F4C5C"/>
                </a:solidFill>
                <a:latin typeface="Plus Jakarta Sans" pitchFamily="34" charset="0"/>
                <a:ea typeface="Plus Jakarta Sans" pitchFamily="34" charset="-122"/>
                <a:cs typeface="Plus Jakarta Sans" pitchFamily="34" charset="-120"/>
              </a:rPr>
              <a:t>$74,479</a:t>
            </a:r>
            <a:endParaRPr lang="en-US" sz="1400" dirty="0"/>
          </a:p>
        </p:txBody>
      </p:sp>
      <p:sp>
        <p:nvSpPr>
          <p:cNvPr id="9" name="Shape 7"/>
          <p:cNvSpPr/>
          <p:nvPr/>
        </p:nvSpPr>
        <p:spPr>
          <a:xfrm>
            <a:off x="1020233" y="3435021"/>
            <a:ext cx="5524500" cy="254000"/>
          </a:xfrm>
          <a:prstGeom prst="roundRect">
            <a:avLst>
              <a:gd name="adj" fmla="val 20000"/>
            </a:avLst>
          </a:prstGeom>
          <a:solidFill>
            <a:srgbClr val="7B61FF"/>
          </a:solidFill>
          <a:ln/>
        </p:spPr>
      </p:sp>
      <p:sp>
        <p:nvSpPr>
          <p:cNvPr id="10" name="Text 8"/>
          <p:cNvSpPr/>
          <p:nvPr/>
        </p:nvSpPr>
        <p:spPr>
          <a:xfrm>
            <a:off x="1020233" y="3841421"/>
            <a:ext cx="367498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Plus Jakarta Sans" pitchFamily="34" charset="0"/>
                <a:ea typeface="Plus Jakarta Sans" pitchFamily="34" charset="-122"/>
                <a:cs typeface="Plus Jakarta Sans" pitchFamily="34" charset="-120"/>
              </a:rPr>
              <a:t>Typical New Jersey bachelor’s holder</a:t>
            </a:r>
            <a:endParaRPr lang="en-US" sz="1400" dirty="0"/>
          </a:p>
        </p:txBody>
      </p:sp>
      <p:sp>
        <p:nvSpPr>
          <p:cNvPr id="11" name="Text 9"/>
          <p:cNvSpPr/>
          <p:nvPr/>
        </p:nvSpPr>
        <p:spPr>
          <a:xfrm>
            <a:off x="6141535" y="3841421"/>
            <a:ext cx="813832" cy="274307"/>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6202E"/>
                </a:solidFill>
                <a:latin typeface="Plus Jakarta Sans" pitchFamily="34" charset="0"/>
                <a:ea typeface="Plus Jakarta Sans" pitchFamily="34" charset="-122"/>
                <a:cs typeface="Plus Jakarta Sans" pitchFamily="34" charset="-120"/>
              </a:rPr>
              <a:t>$80,114</a:t>
            </a:r>
            <a:endParaRPr lang="en-US" sz="1400" dirty="0"/>
          </a:p>
        </p:txBody>
      </p:sp>
      <p:sp>
        <p:nvSpPr>
          <p:cNvPr id="12" name="Shape 10"/>
          <p:cNvSpPr/>
          <p:nvPr/>
        </p:nvSpPr>
        <p:spPr>
          <a:xfrm>
            <a:off x="1020233" y="4141130"/>
            <a:ext cx="5943600" cy="254000"/>
          </a:xfrm>
          <a:prstGeom prst="roundRect">
            <a:avLst>
              <a:gd name="adj" fmla="val 20000"/>
            </a:avLst>
          </a:prstGeom>
          <a:solidFill>
            <a:srgbClr val="3D4A5C"/>
          </a:solidFill>
          <a:ln/>
        </p:spPr>
      </p:sp>
      <p:sp>
        <p:nvSpPr>
          <p:cNvPr id="13" name="Shape 11"/>
          <p:cNvSpPr/>
          <p:nvPr/>
        </p:nvSpPr>
        <p:spPr>
          <a:xfrm>
            <a:off x="7369175" y="1964004"/>
            <a:ext cx="4006850" cy="2896328"/>
          </a:xfrm>
          <a:prstGeom prst="roundRect">
            <a:avLst>
              <a:gd name="adj" fmla="val 4275"/>
            </a:avLst>
          </a:prstGeom>
          <a:solidFill>
            <a:srgbClr val="FFFFFF"/>
          </a:solidFill>
          <a:ln w="6350">
            <a:solidFill>
              <a:srgbClr val="B5C7CC"/>
            </a:solidFill>
            <a:prstDash val="solid"/>
          </a:ln>
        </p:spPr>
      </p:sp>
      <p:sp>
        <p:nvSpPr>
          <p:cNvPr id="14" name="Text 12"/>
          <p:cNvSpPr/>
          <p:nvPr/>
        </p:nvSpPr>
        <p:spPr>
          <a:xfrm>
            <a:off x="7573434" y="2168265"/>
            <a:ext cx="370628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Plus Jakarta Sans" pitchFamily="34" charset="0"/>
                <a:ea typeface="Plus Jakarta Sans" pitchFamily="34" charset="-122"/>
                <a:cs typeface="Plus Jakarta Sans" pitchFamily="34" charset="-120"/>
              </a:rPr>
              <a:t>102 of 200 schools trail their own state</a:t>
            </a:r>
            <a:endParaRPr lang="en-US" sz="1400" dirty="0"/>
          </a:p>
        </p:txBody>
      </p:sp>
      <p:pic>
        <p:nvPicPr>
          <p:cNvPr id="15" name="Image 0" descr="Pie chart: 102 of 200 schools earn less than their state's bachelor's average (51%, including Rutgers-Newark); 98 earn more (49%).">    </p:cNvPr>
          <p:cNvPicPr>
            <a:picLocks noChangeAspect="1"/>
          </p:cNvPicPr>
          <p:nvPr/>
        </p:nvPicPr>
        <p:blipFill>
          <a:blip r:embed="rId1"/>
          <a:srcRect l="0" r="0" t="0" b="0"/>
          <a:stretch/>
        </p:blipFill>
        <p:spPr>
          <a:xfrm>
            <a:off x="7573434" y="2466715"/>
            <a:ext cx="3606800" cy="1397000"/>
          </a:xfrm>
          <a:prstGeom prst="rect">
            <a:avLst/>
          </a:prstGeom>
        </p:spPr>
      </p:pic>
      <p:sp>
        <p:nvSpPr>
          <p:cNvPr id="16" name="Text 13"/>
          <p:cNvSpPr/>
          <p:nvPr/>
        </p:nvSpPr>
        <p:spPr>
          <a:xfrm>
            <a:off x="9414934" y="3025515"/>
            <a:ext cx="685800" cy="279400"/>
          </a:xfrm>
          <a:prstGeom prst="rect">
            <a:avLst/>
          </a:prstGeom>
          <a:noFill/>
          <a:ln/>
        </p:spPr>
        <p:txBody>
          <a:bodyPr wrap="square" lIns="0" tIns="0" rIns="0" bIns="0" rtlCol="0" anchor="t">
            <a:normAutofit/>
          </a:bodyPr>
          <a:lstStyle/>
          <a:p>
            <a:pPr algn="ctr" indent="0" marL="0">
              <a:lnSpc>
                <a:spcPts val="2000"/>
              </a:lnSpc>
              <a:buNone/>
            </a:pPr>
            <a:r>
              <a:rPr lang="en-US" sz="2000" b="1" dirty="0">
                <a:solidFill>
                  <a:srgbClr val="F7F4EE"/>
                </a:solidFill>
                <a:latin typeface="Plus Jakarta Sans" pitchFamily="34" charset="0"/>
                <a:ea typeface="Plus Jakarta Sans" pitchFamily="34" charset="-122"/>
                <a:cs typeface="Plus Jakarta Sans" pitchFamily="34" charset="-120"/>
              </a:rPr>
              <a:t>102</a:t>
            </a:r>
            <a:endParaRPr lang="en-US" sz="2000" dirty="0"/>
          </a:p>
        </p:txBody>
      </p:sp>
      <p:sp>
        <p:nvSpPr>
          <p:cNvPr id="17" name="Text 14"/>
          <p:cNvSpPr/>
          <p:nvPr/>
        </p:nvSpPr>
        <p:spPr>
          <a:xfrm>
            <a:off x="8652934" y="3025515"/>
            <a:ext cx="685800" cy="279400"/>
          </a:xfrm>
          <a:prstGeom prst="rect">
            <a:avLst/>
          </a:prstGeom>
          <a:noFill/>
          <a:ln/>
        </p:spPr>
        <p:txBody>
          <a:bodyPr wrap="square" lIns="0" tIns="0" rIns="0" bIns="0" rtlCol="0" anchor="t">
            <a:normAutofit/>
          </a:bodyPr>
          <a:lstStyle/>
          <a:p>
            <a:pPr algn="ctr" indent="0" marL="0">
              <a:lnSpc>
                <a:spcPts val="2000"/>
              </a:lnSpc>
              <a:buNone/>
            </a:pPr>
            <a:r>
              <a:rPr lang="en-US" sz="2000" b="1" dirty="0">
                <a:solidFill>
                  <a:srgbClr val="16202E"/>
                </a:solidFill>
                <a:latin typeface="Plus Jakarta Sans" pitchFamily="34" charset="0"/>
                <a:ea typeface="Plus Jakarta Sans" pitchFamily="34" charset="-122"/>
                <a:cs typeface="Plus Jakarta Sans" pitchFamily="34" charset="-120"/>
              </a:rPr>
              <a:t>98</a:t>
            </a:r>
            <a:endParaRPr lang="en-US" sz="2000" dirty="0"/>
          </a:p>
        </p:txBody>
      </p:sp>
      <p:sp>
        <p:nvSpPr>
          <p:cNvPr id="18" name="Shape 15"/>
          <p:cNvSpPr/>
          <p:nvPr/>
        </p:nvSpPr>
        <p:spPr>
          <a:xfrm>
            <a:off x="7573434" y="4077035"/>
            <a:ext cx="152400" cy="152400"/>
          </a:xfrm>
          <a:prstGeom prst="roundRect">
            <a:avLst>
              <a:gd name="adj" fmla="val 25000"/>
            </a:avLst>
          </a:prstGeom>
          <a:solidFill>
            <a:srgbClr val="7B61FF"/>
          </a:solidFill>
          <a:ln/>
        </p:spPr>
      </p:sp>
      <p:sp>
        <p:nvSpPr>
          <p:cNvPr id="19" name="Text 16"/>
          <p:cNvSpPr/>
          <p:nvPr/>
        </p:nvSpPr>
        <p:spPr>
          <a:xfrm>
            <a:off x="7802034" y="3939915"/>
            <a:ext cx="347082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Plus Jakarta Sans" pitchFamily="34" charset="0"/>
                <a:ea typeface="Plus Jakarta Sans" pitchFamily="34" charset="-122"/>
                <a:cs typeface="Plus Jakarta Sans" pitchFamily="34" charset="-120"/>
              </a:rPr>
              <a:t>Below state average (102), incl. Rutgers-Newark</a:t>
            </a:r>
            <a:endParaRPr lang="en-US" sz="1200" dirty="0"/>
          </a:p>
        </p:txBody>
      </p:sp>
      <p:sp>
        <p:nvSpPr>
          <p:cNvPr id="20" name="Shape 17"/>
          <p:cNvSpPr/>
          <p:nvPr/>
        </p:nvSpPr>
        <p:spPr>
          <a:xfrm>
            <a:off x="7573434" y="4473178"/>
            <a:ext cx="152400" cy="152400"/>
          </a:xfrm>
          <a:prstGeom prst="roundRect">
            <a:avLst>
              <a:gd name="adj" fmla="val 25000"/>
            </a:avLst>
          </a:prstGeom>
          <a:solidFill>
            <a:srgbClr val="B5C7CC"/>
          </a:solidFill>
          <a:ln/>
        </p:spPr>
      </p:sp>
      <p:sp>
        <p:nvSpPr>
          <p:cNvPr id="21" name="Text 18"/>
          <p:cNvSpPr/>
          <p:nvPr/>
        </p:nvSpPr>
        <p:spPr>
          <a:xfrm>
            <a:off x="7802034" y="4442755"/>
            <a:ext cx="21423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Plus Jakarta Sans" pitchFamily="34" charset="0"/>
                <a:ea typeface="Plus Jakarta Sans" pitchFamily="34" charset="-122"/>
                <a:cs typeface="Plus Jakarta Sans" pitchFamily="34" charset="-120"/>
              </a:rPr>
              <a:t>Above state average (98)</a:t>
            </a:r>
            <a:endParaRPr lang="en-US" sz="1200" dirty="0"/>
          </a:p>
        </p:txBody>
      </p:sp>
      <p:sp>
        <p:nvSpPr>
          <p:cNvPr id="22" name="Text 19"/>
          <p:cNvSpPr/>
          <p:nvPr/>
        </p:nvSpPr>
        <p:spPr>
          <a:xfrm>
            <a:off x="812800" y="5117505"/>
            <a:ext cx="10883392"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Plus Jakarta Sans" pitchFamily="34" charset="0"/>
                <a:ea typeface="Plus Jakarta Sans" pitchFamily="34" charset="-122"/>
                <a:cs typeface="Plus Jakarta Sans" pitchFamily="34" charset="-120"/>
              </a:rPr>
              <a:t>Rutgers-Newark falls $5,635 short of its state baseline, 131st of 200, in the slightly larger half of schools that trail theirs. Debt is the pressure point: $21,500 median, the highest of the three schools.</a:t>
            </a:r>
            <a:endParaRPr lang="en-US" sz="1400" dirty="0"/>
          </a:p>
        </p:txBody>
      </p:sp>
      <p:sp>
        <p:nvSpPr>
          <p:cNvPr id="23"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10-year median earnings vs. state bachelor’s median (Census) · Source: College Scorecard, in college-analysis.xlsx</a:t>
            </a:r>
            <a:endParaRPr lang="en-US" sz="1200" dirty="0"/>
          </a:p>
        </p:txBody>
      </p:sp>
      <p:sp>
        <p:nvSpPr>
          <p:cNvPr id="24" name="Slide Number Placehold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6202E"/>
                </a:solidFill>
                <a:latin typeface="Plus Jakarta Sans" pitchFamily="34" charset="0"/>
                <a:ea typeface="Plus Jakarta Sans" pitchFamily="34" charset="-122"/>
                <a:cs typeface="Plus Jakarta Sans" pitchFamily="34" charset="-120"/>
              </a:rPr>
              <a:t>Before calling a school a bargain, check completion rate and debt burden</a:t>
            </a:r>
            <a:endParaRPr lang="en-US" sz="3000" dirty="0"/>
          </a:p>
        </p:txBody>
      </p:sp>
      <p:sp>
        <p:nvSpPr>
          <p:cNvPr id="3" name="Shape 1"/>
          <p:cNvSpPr/>
          <p:nvPr/>
        </p:nvSpPr>
        <p:spPr>
          <a:xfrm>
            <a:off x="815975" y="1882775"/>
            <a:ext cx="6072717" cy="2765491"/>
          </a:xfrm>
          <a:prstGeom prst="roundRect">
            <a:avLst>
              <a:gd name="adj" fmla="val 5396"/>
            </a:avLst>
          </a:prstGeom>
          <a:solidFill>
            <a:srgbClr val="FFFFFF"/>
          </a:solidFill>
          <a:ln w="6350">
            <a:solidFill>
              <a:srgbClr val="B5C7CC"/>
            </a:solidFill>
            <a:prstDash val="solid"/>
          </a:ln>
        </p:spPr>
      </p:sp>
      <p:sp>
        <p:nvSpPr>
          <p:cNvPr id="4" name="Text 2"/>
          <p:cNvSpPr/>
          <p:nvPr/>
        </p:nvSpPr>
        <p:spPr>
          <a:xfrm>
            <a:off x="1020233" y="2061635"/>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4C5C"/>
                </a:solidFill>
                <a:latin typeface="JetBrains Mono" pitchFamily="49" charset="0"/>
                <a:ea typeface="JetBrains Mono" pitchFamily="49" charset="-122"/>
                <a:cs typeface="JetBrains Mono" pitchFamily="49" charset="-120"/>
              </a:rPr>
              <a:t>SCHOOL</a:t>
            </a:r>
            <a:endParaRPr lang="en-US" sz="1200" dirty="0"/>
          </a:p>
        </p:txBody>
      </p:sp>
      <p:sp>
        <p:nvSpPr>
          <p:cNvPr id="5" name="Text 3"/>
          <p:cNvSpPr/>
          <p:nvPr/>
        </p:nvSpPr>
        <p:spPr>
          <a:xfrm>
            <a:off x="2823633" y="2061635"/>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4C5C"/>
                </a:solidFill>
                <a:latin typeface="JetBrains Mono" pitchFamily="49" charset="0"/>
                <a:ea typeface="JetBrains Mono" pitchFamily="49" charset="-122"/>
                <a:cs typeface="JetBrains Mono" pitchFamily="49" charset="-120"/>
              </a:rPr>
              <a:t>FINISH RATE</a:t>
            </a:r>
            <a:endParaRPr lang="en-US" sz="1200" dirty="0"/>
          </a:p>
        </p:txBody>
      </p:sp>
      <p:sp>
        <p:nvSpPr>
          <p:cNvPr id="6" name="Text 4"/>
          <p:cNvSpPr/>
          <p:nvPr/>
        </p:nvSpPr>
        <p:spPr>
          <a:xfrm>
            <a:off x="4881033" y="2061635"/>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4C5C"/>
                </a:solidFill>
                <a:latin typeface="JetBrains Mono" pitchFamily="49" charset="0"/>
                <a:ea typeface="JetBrains Mono" pitchFamily="49" charset="-122"/>
                <a:cs typeface="JetBrains Mono" pitchFamily="49" charset="-120"/>
              </a:rPr>
              <a:t>DEBT BURDEN</a:t>
            </a:r>
            <a:endParaRPr lang="en-US" sz="1200" dirty="0"/>
          </a:p>
        </p:txBody>
      </p:sp>
      <p:sp>
        <p:nvSpPr>
          <p:cNvPr id="7" name="Text 5"/>
          <p:cNvSpPr/>
          <p:nvPr/>
        </p:nvSpPr>
        <p:spPr>
          <a:xfrm>
            <a:off x="1020233" y="2475576"/>
            <a:ext cx="17018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Plus Jakarta Sans" pitchFamily="34" charset="0"/>
                <a:ea typeface="Plus Jakarta Sans" pitchFamily="34" charset="-122"/>
                <a:cs typeface="Plus Jakarta Sans" pitchFamily="34" charset="-120"/>
              </a:rPr>
              <a:t>CUNY Hunter</a:t>
            </a:r>
            <a:endParaRPr lang="en-US" sz="1400" dirty="0"/>
          </a:p>
        </p:txBody>
      </p:sp>
      <p:sp>
        <p:nvSpPr>
          <p:cNvPr id="8" name="Text 6"/>
          <p:cNvSpPr/>
          <p:nvPr/>
        </p:nvSpPr>
        <p:spPr>
          <a:xfrm>
            <a:off x="2823633" y="2401956"/>
            <a:ext cx="196215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02E"/>
                </a:solidFill>
                <a:latin typeface="Plus Jakarta Sans" pitchFamily="34" charset="0"/>
                <a:ea typeface="Plus Jakarta Sans" pitchFamily="34" charset="-122"/>
                <a:cs typeface="Plus Jakarta Sans" pitchFamily="34" charset="-120"/>
              </a:rPr>
              <a:t>58.8%</a:t>
            </a:r>
            <a:endParaRPr lang="en-US" sz="1300" dirty="0"/>
          </a:p>
        </p:txBody>
      </p:sp>
      <p:sp>
        <p:nvSpPr>
          <p:cNvPr id="9" name="Shape 7"/>
          <p:cNvSpPr/>
          <p:nvPr/>
        </p:nvSpPr>
        <p:spPr>
          <a:xfrm>
            <a:off x="2823633" y="2671167"/>
            <a:ext cx="1117600" cy="127000"/>
          </a:xfrm>
          <a:prstGeom prst="roundRect">
            <a:avLst>
              <a:gd name="adj" fmla="val 50000"/>
            </a:avLst>
          </a:prstGeom>
          <a:gradFill rotWithShape="1">
            <a:gsLst>
              <a:gs pos="0">
                <a:srgbClr val="7B61FF"/>
              </a:gs>
              <a:gs pos="100000">
                <a:srgbClr val="2EA8FF"/>
              </a:gs>
            </a:gsLst>
            <a:lin ang="0" scaled="0"/>
          </a:gradFill>
          <a:ln/>
        </p:spPr>
      </p:sp>
      <p:sp>
        <p:nvSpPr>
          <p:cNvPr id="10" name="Text 8"/>
          <p:cNvSpPr/>
          <p:nvPr/>
        </p:nvSpPr>
        <p:spPr>
          <a:xfrm>
            <a:off x="4881033" y="2401956"/>
            <a:ext cx="196215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02E"/>
                </a:solidFill>
                <a:latin typeface="Plus Jakarta Sans" pitchFamily="34" charset="0"/>
                <a:ea typeface="Plus Jakarta Sans" pitchFamily="34" charset="-122"/>
                <a:cs typeface="Plus Jakarta Sans" pitchFamily="34" charset="-120"/>
              </a:rPr>
              <a:t>17.4%</a:t>
            </a:r>
            <a:endParaRPr lang="en-US" sz="1300" dirty="0"/>
          </a:p>
        </p:txBody>
      </p:sp>
      <p:sp>
        <p:nvSpPr>
          <p:cNvPr id="11" name="Shape 9"/>
          <p:cNvSpPr/>
          <p:nvPr/>
        </p:nvSpPr>
        <p:spPr>
          <a:xfrm>
            <a:off x="4881033" y="2671167"/>
            <a:ext cx="825500" cy="127000"/>
          </a:xfrm>
          <a:prstGeom prst="roundRect">
            <a:avLst>
              <a:gd name="adj" fmla="val 50000"/>
            </a:avLst>
          </a:prstGeom>
          <a:gradFill rotWithShape="1">
            <a:gsLst>
              <a:gs pos="0">
                <a:srgbClr val="FF6B5B"/>
              </a:gs>
              <a:gs pos="100000">
                <a:srgbClr val="FFB020"/>
              </a:gs>
            </a:gsLst>
            <a:lin ang="0" scaled="0"/>
          </a:gradFill>
          <a:ln/>
        </p:spPr>
      </p:sp>
      <p:sp>
        <p:nvSpPr>
          <p:cNvPr id="12" name="Text 10"/>
          <p:cNvSpPr/>
          <p:nvPr/>
        </p:nvSpPr>
        <p:spPr>
          <a:xfrm>
            <a:off x="1020233" y="2998788"/>
            <a:ext cx="17018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Plus Jakarta Sans" pitchFamily="34" charset="0"/>
                <a:ea typeface="Plus Jakarta Sans" pitchFamily="34" charset="-122"/>
                <a:cs typeface="Plus Jakarta Sans" pitchFamily="34" charset="-120"/>
              </a:rPr>
              <a:t>NYU</a:t>
            </a:r>
            <a:endParaRPr lang="en-US" sz="1400" dirty="0"/>
          </a:p>
        </p:txBody>
      </p:sp>
      <p:sp>
        <p:nvSpPr>
          <p:cNvPr id="13" name="Text 11"/>
          <p:cNvSpPr/>
          <p:nvPr/>
        </p:nvSpPr>
        <p:spPr>
          <a:xfrm>
            <a:off x="2823633" y="2925167"/>
            <a:ext cx="196215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02E"/>
                </a:solidFill>
                <a:latin typeface="Plus Jakarta Sans" pitchFamily="34" charset="0"/>
                <a:ea typeface="Plus Jakarta Sans" pitchFamily="34" charset="-122"/>
                <a:cs typeface="Plus Jakarta Sans" pitchFamily="34" charset="-120"/>
              </a:rPr>
              <a:t>88.0%</a:t>
            </a:r>
            <a:endParaRPr lang="en-US" sz="1300" dirty="0"/>
          </a:p>
        </p:txBody>
      </p:sp>
      <p:sp>
        <p:nvSpPr>
          <p:cNvPr id="14" name="Shape 12"/>
          <p:cNvSpPr/>
          <p:nvPr/>
        </p:nvSpPr>
        <p:spPr>
          <a:xfrm>
            <a:off x="2823633" y="3194385"/>
            <a:ext cx="1676400" cy="127000"/>
          </a:xfrm>
          <a:prstGeom prst="roundRect">
            <a:avLst>
              <a:gd name="adj" fmla="val 50000"/>
            </a:avLst>
          </a:prstGeom>
          <a:gradFill rotWithShape="1">
            <a:gsLst>
              <a:gs pos="0">
                <a:srgbClr val="7B61FF"/>
              </a:gs>
              <a:gs pos="100000">
                <a:srgbClr val="2EA8FF"/>
              </a:gs>
            </a:gsLst>
            <a:lin ang="0" scaled="0"/>
          </a:gradFill>
          <a:ln/>
        </p:spPr>
      </p:sp>
      <p:sp>
        <p:nvSpPr>
          <p:cNvPr id="15" name="Text 13"/>
          <p:cNvSpPr/>
          <p:nvPr/>
        </p:nvSpPr>
        <p:spPr>
          <a:xfrm>
            <a:off x="4881033" y="2925167"/>
            <a:ext cx="196215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02E"/>
                </a:solidFill>
                <a:latin typeface="Plus Jakarta Sans" pitchFamily="34" charset="0"/>
                <a:ea typeface="Plus Jakarta Sans" pitchFamily="34" charset="-122"/>
                <a:cs typeface="Plus Jakarta Sans" pitchFamily="34" charset="-120"/>
              </a:rPr>
              <a:t>24.8%</a:t>
            </a:r>
            <a:endParaRPr lang="en-US" sz="1300" dirty="0"/>
          </a:p>
        </p:txBody>
      </p:sp>
      <p:sp>
        <p:nvSpPr>
          <p:cNvPr id="16" name="Shape 14"/>
          <p:cNvSpPr/>
          <p:nvPr/>
        </p:nvSpPr>
        <p:spPr>
          <a:xfrm>
            <a:off x="4881033" y="3194385"/>
            <a:ext cx="1181100" cy="127000"/>
          </a:xfrm>
          <a:prstGeom prst="roundRect">
            <a:avLst>
              <a:gd name="adj" fmla="val 50000"/>
            </a:avLst>
          </a:prstGeom>
          <a:gradFill rotWithShape="1">
            <a:gsLst>
              <a:gs pos="0">
                <a:srgbClr val="FF6B5B"/>
              </a:gs>
              <a:gs pos="100000">
                <a:srgbClr val="FFB020"/>
              </a:gs>
            </a:gsLst>
            <a:lin ang="0" scaled="0"/>
          </a:gradFill>
          <a:ln/>
        </p:spPr>
      </p:sp>
      <p:sp>
        <p:nvSpPr>
          <p:cNvPr id="17" name="Text 15"/>
          <p:cNvSpPr/>
          <p:nvPr/>
        </p:nvSpPr>
        <p:spPr>
          <a:xfrm>
            <a:off x="1020233" y="3522005"/>
            <a:ext cx="17018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Plus Jakarta Sans" pitchFamily="34" charset="0"/>
                <a:ea typeface="Plus Jakarta Sans" pitchFamily="34" charset="-122"/>
                <a:cs typeface="Plus Jakarta Sans" pitchFamily="34" charset="-120"/>
              </a:rPr>
              <a:t>Rutgers-Newark</a:t>
            </a:r>
            <a:endParaRPr lang="en-US" sz="1400" dirty="0"/>
          </a:p>
        </p:txBody>
      </p:sp>
      <p:sp>
        <p:nvSpPr>
          <p:cNvPr id="18" name="Text 16"/>
          <p:cNvSpPr/>
          <p:nvPr/>
        </p:nvSpPr>
        <p:spPr>
          <a:xfrm>
            <a:off x="2823633" y="3448385"/>
            <a:ext cx="196215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02E"/>
                </a:solidFill>
                <a:latin typeface="Plus Jakarta Sans" pitchFamily="34" charset="0"/>
                <a:ea typeface="Plus Jakarta Sans" pitchFamily="34" charset="-122"/>
                <a:cs typeface="Plus Jakarta Sans" pitchFamily="34" charset="-120"/>
              </a:rPr>
              <a:t>65.7%</a:t>
            </a:r>
            <a:endParaRPr lang="en-US" sz="1300" dirty="0"/>
          </a:p>
        </p:txBody>
      </p:sp>
      <p:sp>
        <p:nvSpPr>
          <p:cNvPr id="19" name="Shape 17"/>
          <p:cNvSpPr/>
          <p:nvPr/>
        </p:nvSpPr>
        <p:spPr>
          <a:xfrm>
            <a:off x="2823633" y="3717596"/>
            <a:ext cx="1250950" cy="127000"/>
          </a:xfrm>
          <a:prstGeom prst="roundRect">
            <a:avLst>
              <a:gd name="adj" fmla="val 50000"/>
            </a:avLst>
          </a:prstGeom>
          <a:gradFill rotWithShape="1">
            <a:gsLst>
              <a:gs pos="0">
                <a:srgbClr val="7B61FF"/>
              </a:gs>
              <a:gs pos="100000">
                <a:srgbClr val="2EA8FF"/>
              </a:gs>
            </a:gsLst>
            <a:lin ang="0" scaled="0"/>
          </a:gradFill>
          <a:ln/>
        </p:spPr>
      </p:sp>
      <p:sp>
        <p:nvSpPr>
          <p:cNvPr id="20" name="Text 18"/>
          <p:cNvSpPr/>
          <p:nvPr/>
        </p:nvSpPr>
        <p:spPr>
          <a:xfrm>
            <a:off x="4881033" y="3448385"/>
            <a:ext cx="196215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02E"/>
                </a:solidFill>
                <a:latin typeface="Plus Jakarta Sans" pitchFamily="34" charset="0"/>
                <a:ea typeface="Plus Jakarta Sans" pitchFamily="34" charset="-122"/>
                <a:cs typeface="Plus Jakarta Sans" pitchFamily="34" charset="-120"/>
              </a:rPr>
              <a:t>28.9%</a:t>
            </a:r>
            <a:endParaRPr lang="en-US" sz="1300" dirty="0"/>
          </a:p>
        </p:txBody>
      </p:sp>
      <p:sp>
        <p:nvSpPr>
          <p:cNvPr id="21" name="Shape 19"/>
          <p:cNvSpPr/>
          <p:nvPr/>
        </p:nvSpPr>
        <p:spPr>
          <a:xfrm>
            <a:off x="4881033" y="3717596"/>
            <a:ext cx="1377950" cy="127000"/>
          </a:xfrm>
          <a:prstGeom prst="roundRect">
            <a:avLst>
              <a:gd name="adj" fmla="val 50000"/>
            </a:avLst>
          </a:prstGeom>
          <a:gradFill rotWithShape="1">
            <a:gsLst>
              <a:gs pos="0">
                <a:srgbClr val="FF6B5B"/>
              </a:gs>
              <a:gs pos="100000">
                <a:srgbClr val="FFB020"/>
              </a:gs>
            </a:gsLst>
            <a:lin ang="0" scaled="0"/>
          </a:gradFill>
          <a:ln/>
        </p:spPr>
      </p:sp>
      <p:sp>
        <p:nvSpPr>
          <p:cNvPr id="22" name="Text 20"/>
          <p:cNvSpPr/>
          <p:nvPr/>
        </p:nvSpPr>
        <p:spPr>
          <a:xfrm>
            <a:off x="1020233" y="3971596"/>
            <a:ext cx="170180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Plus Jakarta Sans" pitchFamily="34" charset="0"/>
                <a:ea typeface="Plus Jakarta Sans" pitchFamily="34" charset="-122"/>
                <a:cs typeface="Plus Jakarta Sans" pitchFamily="34" charset="-120"/>
              </a:rPr>
              <a:t>Average, 200 schools</a:t>
            </a:r>
            <a:endParaRPr lang="en-US" sz="1400" dirty="0"/>
          </a:p>
        </p:txBody>
      </p:sp>
      <p:sp>
        <p:nvSpPr>
          <p:cNvPr id="23" name="Text 21"/>
          <p:cNvSpPr/>
          <p:nvPr/>
        </p:nvSpPr>
        <p:spPr>
          <a:xfrm>
            <a:off x="2823633" y="4022396"/>
            <a:ext cx="196215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Plus Jakarta Sans" pitchFamily="34" charset="0"/>
                <a:ea typeface="Plus Jakarta Sans" pitchFamily="34" charset="-122"/>
                <a:cs typeface="Plus Jakarta Sans" pitchFamily="34" charset="-120"/>
              </a:rPr>
              <a:t>72.5%</a:t>
            </a:r>
            <a:endParaRPr lang="en-US" sz="1300" dirty="0"/>
          </a:p>
        </p:txBody>
      </p:sp>
      <p:sp>
        <p:nvSpPr>
          <p:cNvPr id="24" name="Shape 22"/>
          <p:cNvSpPr/>
          <p:nvPr/>
        </p:nvSpPr>
        <p:spPr>
          <a:xfrm>
            <a:off x="2823633" y="4291608"/>
            <a:ext cx="1384300" cy="127000"/>
          </a:xfrm>
          <a:prstGeom prst="roundRect">
            <a:avLst>
              <a:gd name="adj" fmla="val 50000"/>
            </a:avLst>
          </a:prstGeom>
          <a:solidFill>
            <a:srgbClr val="B5C7CC"/>
          </a:solidFill>
          <a:ln/>
        </p:spPr>
      </p:sp>
      <p:sp>
        <p:nvSpPr>
          <p:cNvPr id="25" name="Text 23"/>
          <p:cNvSpPr/>
          <p:nvPr/>
        </p:nvSpPr>
        <p:spPr>
          <a:xfrm>
            <a:off x="4881033" y="4022396"/>
            <a:ext cx="196215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Plus Jakarta Sans" pitchFamily="34" charset="0"/>
                <a:ea typeface="Plus Jakarta Sans" pitchFamily="34" charset="-122"/>
                <a:cs typeface="Plus Jakarta Sans" pitchFamily="34" charset="-120"/>
              </a:rPr>
              <a:t>30.3%</a:t>
            </a:r>
            <a:endParaRPr lang="en-US" sz="1300" dirty="0"/>
          </a:p>
        </p:txBody>
      </p:sp>
      <p:sp>
        <p:nvSpPr>
          <p:cNvPr id="26" name="Shape 24"/>
          <p:cNvSpPr/>
          <p:nvPr/>
        </p:nvSpPr>
        <p:spPr>
          <a:xfrm>
            <a:off x="4881033" y="4291608"/>
            <a:ext cx="1441450" cy="127000"/>
          </a:xfrm>
          <a:prstGeom prst="roundRect">
            <a:avLst>
              <a:gd name="adj" fmla="val 50000"/>
            </a:avLst>
          </a:prstGeom>
          <a:solidFill>
            <a:srgbClr val="B5C7CC"/>
          </a:solidFill>
          <a:ln/>
        </p:spPr>
      </p:sp>
      <p:sp>
        <p:nvSpPr>
          <p:cNvPr id="27" name="Shape 25"/>
          <p:cNvSpPr/>
          <p:nvPr/>
        </p:nvSpPr>
        <p:spPr>
          <a:xfrm>
            <a:off x="7095067" y="1879600"/>
            <a:ext cx="4284133" cy="2771841"/>
          </a:xfrm>
          <a:prstGeom prst="roundRect">
            <a:avLst>
              <a:gd name="adj" fmla="val 5498"/>
            </a:avLst>
          </a:prstGeom>
          <a:solidFill>
            <a:srgbClr val="0F4C5C"/>
          </a:solidFill>
          <a:ln/>
        </p:spPr>
      </p:sp>
      <p:sp>
        <p:nvSpPr>
          <p:cNvPr id="28" name="Text 26"/>
          <p:cNvSpPr/>
          <p:nvPr/>
        </p:nvSpPr>
        <p:spPr>
          <a:xfrm>
            <a:off x="7349067" y="2494694"/>
            <a:ext cx="3889417" cy="667941"/>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7F4EE"/>
                </a:solidFill>
                <a:latin typeface="Plus Jakarta Sans" pitchFamily="34" charset="0"/>
                <a:ea typeface="Plus Jakarta Sans" pitchFamily="34" charset="-122"/>
                <a:cs typeface="Plus Jakarta Sans" pitchFamily="34" charset="-120"/>
              </a:rPr>
              <a:t>Ask every school for both numbers</a:t>
            </a:r>
            <a:endParaRPr lang="en-US" sz="2200" dirty="0"/>
          </a:p>
        </p:txBody>
      </p:sp>
      <p:sp>
        <p:nvSpPr>
          <p:cNvPr id="29" name="Text 27"/>
          <p:cNvSpPr/>
          <p:nvPr/>
        </p:nvSpPr>
        <p:spPr>
          <a:xfrm>
            <a:off x="7415279" y="3289635"/>
            <a:ext cx="3815585" cy="772120"/>
          </a:xfrm>
          <a:prstGeom prst="rect">
            <a:avLst/>
          </a:prstGeom>
          <a:noFill/>
          <a:ln/>
        </p:spPr>
        <p:txBody>
          <a:bodyPr wrap="square" lIns="0" tIns="0" rIns="0" bIns="0" rtlCol="0" anchor="t">
            <a:normAutofit/>
          </a:bodyPr>
          <a:lstStyle/>
          <a:p>
            <a:pPr algn="l" marL="187788" indent="-187788">
              <a:lnSpc>
                <a:spcPts val="1960"/>
              </a:lnSpc>
              <a:buSzPct val="100000"/>
              <a:buFontTx/>
              <a:buAutoNum type="arabicPeriod" startAt="1"/>
            </a:pPr>
            <a:r>
              <a:rPr lang="en-US" sz="1400" dirty="0">
                <a:solidFill>
                  <a:srgbClr val="F7F4EE"/>
                </a:solidFill>
                <a:latin typeface="Plus Jakarta Sans" pitchFamily="34" charset="0"/>
                <a:ea typeface="Plus Jakarta Sans" pitchFamily="34" charset="-122"/>
                <a:cs typeface="Plus Jakarta Sans" pitchFamily="34" charset="-120"/>
              </a:rPr>
              <a:t>What share of students finish?</a:t>
            </a:r>
            <a:endParaRPr lang="en-US" sz="1400" dirty="0"/>
          </a:p>
          <a:p>
            <a:pPr algn="l" marL="187788" indent="-187788">
              <a:lnSpc>
                <a:spcPts val="1960"/>
              </a:lnSpc>
              <a:buSzPct val="100000"/>
              <a:buFontTx/>
              <a:buAutoNum type="arabicPeriod" startAt="1"/>
            </a:pPr>
            <a:r>
              <a:rPr lang="en-US" sz="1400" dirty="0">
                <a:solidFill>
                  <a:srgbClr val="F7F4EE"/>
                </a:solidFill>
                <a:latin typeface="Plus Jakarta Sans" pitchFamily="34" charset="0"/>
                <a:ea typeface="Plus Jakarta Sans" pitchFamily="34" charset="-122"/>
                <a:cs typeface="Plus Jakarta Sans" pitchFamily="34" charset="-120"/>
              </a:rPr>
              <a:t>How much do graduates borrow compared with what they earn?</a:t>
            </a:r>
            <a:endParaRPr lang="en-US" sz="1400" dirty="0"/>
          </a:p>
        </p:txBody>
      </p:sp>
      <p:sp>
        <p:nvSpPr>
          <p:cNvPr id="30" name="Text 28"/>
          <p:cNvSpPr/>
          <p:nvPr/>
        </p:nvSpPr>
        <p:spPr>
          <a:xfrm>
            <a:off x="812800" y="4880043"/>
            <a:ext cx="10883392"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Plus Jakarta Sans" pitchFamily="34" charset="0"/>
                <a:ea typeface="Plus Jakarta Sans" pitchFamily="34" charset="-122"/>
                <a:cs typeface="Plus Jakarta Sans" pitchFamily="34" charset="-120"/>
              </a:rPr>
              <a:t>Finish rate = completion rate (higher is better). Debt burden = median debt ÷ 10-year median earnings (lower is better). Sticker prices ignore aid.</a:t>
            </a:r>
            <a:endParaRPr lang="en-US" sz="1300" dirty="0"/>
          </a:p>
        </p:txBody>
      </p:sp>
      <p:sp>
        <p:nvSpPr>
          <p:cNvPr id="31" name="Text 2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70"/>
                </a:solidFill>
                <a:latin typeface="Plus Jakarta Sans" pitchFamily="34" charset="0"/>
                <a:ea typeface="Plus Jakarta Sans" pitchFamily="34" charset="-122"/>
                <a:cs typeface="Plus Jakarta Sans" pitchFamily="34" charset="-120"/>
              </a:rPr>
              <a:t>Earnings are for graduates who received federal aid · Source: College Scorecard, in college-analysis.xlsx</a:t>
            </a:r>
            <a:endParaRPr lang="en-US" sz="1200" dirty="0"/>
          </a:p>
        </p:txBody>
      </p:sp>
      <p:sp>
        <p:nvSpPr>
          <p:cNvPr id="32" name="Slide Number Placehold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type="title"/>
          </p:nvPr>
        </p:nvSpPr>
        <p:spPr>
          <a:xfrm>
            <a:off x="812800" y="812800"/>
            <a:ext cx="10883392" cy="958056"/>
          </a:xfrm>
          <a:prstGeom prst="rect">
            <a:avLst/>
          </a:prstGeom>
          <a:noFill/>
          <a:ln/>
        </p:spPr>
        <p:txBody>
          <a:bodyPr wrap="square" lIns="0" tIns="0" rIns="0" bIns="0" rtlCol="0" anchor="t">
            <a:normAutofit/>
          </a:bodyPr>
          <a:lstStyle/>
          <a:p>
            <a:pPr algn="l" indent="0" marL="0">
              <a:lnSpc>
                <a:spcPts val="3672"/>
              </a:lnSpc>
              <a:buNone/>
            </a:pPr>
            <a:r>
              <a:rPr lang="en-US" sz="3400" b="1" i="0" spc="-50" kern="0" dirty="0">
                <a:solidFill>
                  <a:srgbClr val="F7F4EE"/>
                </a:solidFill>
                <a:latin typeface="Plus Jakarta Sans" pitchFamily="34" charset="0"/>
                <a:ea typeface="Plus Jakarta Sans" pitchFamily="34" charset="-122"/>
                <a:cs typeface="Plus Jakarta Sans" pitchFamily="34" charset="-120"/>
              </a:rPr>
              <a:t>Compare at least three options before committing, using four numbers</a:t>
            </a:r>
            <a:endParaRPr lang="en-US" sz="3400" dirty="0"/>
          </a:p>
        </p:txBody>
      </p:sp>
      <p:sp>
        <p:nvSpPr>
          <p:cNvPr id="3" name="Shape 1"/>
          <p:cNvSpPr/>
          <p:nvPr/>
        </p:nvSpPr>
        <p:spPr>
          <a:xfrm>
            <a:off x="812800" y="2050256"/>
            <a:ext cx="2527300" cy="2288977"/>
          </a:xfrm>
          <a:prstGeom prst="roundRect">
            <a:avLst>
              <a:gd name="adj" fmla="val 5548"/>
            </a:avLst>
          </a:prstGeom>
          <a:solidFill>
            <a:srgbClr val="F7F4EE"/>
          </a:solidFill>
          <a:ln/>
        </p:spPr>
      </p:sp>
      <p:sp>
        <p:nvSpPr>
          <p:cNvPr id="4" name="Shape 2"/>
          <p:cNvSpPr/>
          <p:nvPr/>
        </p:nvSpPr>
        <p:spPr>
          <a:xfrm>
            <a:off x="1016000" y="2253456"/>
            <a:ext cx="508000" cy="508000"/>
          </a:xfrm>
          <a:prstGeom prst="roundRect">
            <a:avLst>
              <a:gd name="adj" fmla="val 50000"/>
            </a:avLst>
          </a:prstGeom>
          <a:solidFill>
            <a:srgbClr val="FFE3DE"/>
          </a:solidFill>
          <a:ln/>
        </p:spPr>
      </p:sp>
      <p:pic>
        <p:nvPicPr>
          <p:cNvPr id="5" name="Image 0" descr="icon">    </p:cNvPr>
          <p:cNvPicPr>
            <a:picLocks noChangeAspect="1"/>
          </p:cNvPicPr>
          <p:nvPr/>
        </p:nvPicPr>
        <p:blipFill>
          <a:blip r:embed="rId1"/>
          <a:srcRect l="0" r="0" t="0" b="0"/>
          <a:stretch/>
        </p:blipFill>
        <p:spPr>
          <a:xfrm>
            <a:off x="1130300" y="2367756"/>
            <a:ext cx="279400" cy="279400"/>
          </a:xfrm>
          <a:prstGeom prst="rect">
            <a:avLst/>
          </a:prstGeom>
        </p:spPr>
      </p:pic>
      <p:sp>
        <p:nvSpPr>
          <p:cNvPr id="6" name="Text 3"/>
          <p:cNvSpPr/>
          <p:nvPr/>
        </p:nvSpPr>
        <p:spPr>
          <a:xfrm>
            <a:off x="2771140" y="2329656"/>
            <a:ext cx="365760" cy="381000"/>
          </a:xfrm>
          <a:prstGeom prst="rect">
            <a:avLst/>
          </a:prstGeom>
          <a:noFill/>
          <a:ln/>
        </p:spPr>
        <p:txBody>
          <a:bodyPr wrap="square" lIns="0" tIns="0" rIns="0" bIns="0" rtlCol="0" anchor="t">
            <a:normAutofit/>
          </a:bodyPr>
          <a:lstStyle/>
          <a:p>
            <a:pPr algn="r" indent="0" marL="0">
              <a:lnSpc>
                <a:spcPts val="2800"/>
              </a:lnSpc>
              <a:buNone/>
            </a:pPr>
            <a:r>
              <a:rPr lang="en-US" sz="2000" b="1" dirty="0">
                <a:solidFill>
                  <a:srgbClr val="FF6B5B"/>
                </a:solidFill>
                <a:latin typeface="JetBrains Mono" pitchFamily="49" charset="0"/>
                <a:ea typeface="JetBrains Mono" pitchFamily="49" charset="-122"/>
                <a:cs typeface="JetBrains Mono" pitchFamily="49" charset="-120"/>
              </a:rPr>
              <a:t>01</a:t>
            </a:r>
            <a:endParaRPr lang="en-US" sz="2000" dirty="0"/>
          </a:p>
        </p:txBody>
      </p:sp>
      <p:sp>
        <p:nvSpPr>
          <p:cNvPr id="7" name="Text 4"/>
          <p:cNvSpPr/>
          <p:nvPr/>
        </p:nvSpPr>
        <p:spPr>
          <a:xfrm>
            <a:off x="1016000" y="2863056"/>
            <a:ext cx="2184527"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6202E"/>
                </a:solidFill>
                <a:latin typeface="Plus Jakarta Sans" pitchFamily="34" charset="0"/>
                <a:ea typeface="Plus Jakarta Sans" pitchFamily="34" charset="-122"/>
                <a:cs typeface="Plus Jakarta Sans" pitchFamily="34" charset="-120"/>
              </a:rPr>
              <a:t>Net price</a:t>
            </a:r>
            <a:endParaRPr lang="en-US" sz="1800" dirty="0"/>
          </a:p>
        </p:txBody>
      </p:sp>
      <p:sp>
        <p:nvSpPr>
          <p:cNvPr id="8" name="Text 5"/>
          <p:cNvSpPr/>
          <p:nvPr/>
        </p:nvSpPr>
        <p:spPr>
          <a:xfrm>
            <a:off x="1016000" y="3216077"/>
            <a:ext cx="21845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A5C"/>
                </a:solidFill>
                <a:latin typeface="Plus Jakarta Sans" pitchFamily="34" charset="0"/>
                <a:ea typeface="Plus Jakarta Sans" pitchFamily="34" charset="-122"/>
                <a:cs typeface="Plus Jakarta Sans" pitchFamily="34" charset="-120"/>
              </a:rPr>
              <a:t>What you pay after grants, not the published price.</a:t>
            </a:r>
            <a:endParaRPr lang="en-US" sz="1300" dirty="0"/>
          </a:p>
        </p:txBody>
      </p:sp>
      <p:sp>
        <p:nvSpPr>
          <p:cNvPr id="9" name="Shape 6"/>
          <p:cNvSpPr/>
          <p:nvPr/>
        </p:nvSpPr>
        <p:spPr>
          <a:xfrm>
            <a:off x="3492500" y="2050256"/>
            <a:ext cx="2527300" cy="2288977"/>
          </a:xfrm>
          <a:prstGeom prst="roundRect">
            <a:avLst>
              <a:gd name="adj" fmla="val 5548"/>
            </a:avLst>
          </a:prstGeom>
          <a:solidFill>
            <a:srgbClr val="F7F4EE"/>
          </a:solidFill>
          <a:ln/>
        </p:spPr>
      </p:sp>
      <p:sp>
        <p:nvSpPr>
          <p:cNvPr id="10" name="Shape 7"/>
          <p:cNvSpPr/>
          <p:nvPr/>
        </p:nvSpPr>
        <p:spPr>
          <a:xfrm>
            <a:off x="3695700" y="2253456"/>
            <a:ext cx="508000" cy="508000"/>
          </a:xfrm>
          <a:prstGeom prst="roundRect">
            <a:avLst>
              <a:gd name="adj" fmla="val 50000"/>
            </a:avLst>
          </a:prstGeom>
          <a:solidFill>
            <a:srgbClr val="E6E0FF"/>
          </a:solidFill>
          <a:ln/>
        </p:spPr>
      </p:sp>
      <p:pic>
        <p:nvPicPr>
          <p:cNvPr id="11" name="Image 1" descr="icon">    </p:cNvPr>
          <p:cNvPicPr>
            <a:picLocks noChangeAspect="1"/>
          </p:cNvPicPr>
          <p:nvPr/>
        </p:nvPicPr>
        <p:blipFill>
          <a:blip r:embed="rId2"/>
          <a:srcRect l="0" r="0" t="0" b="0"/>
          <a:stretch/>
        </p:blipFill>
        <p:spPr>
          <a:xfrm>
            <a:off x="3810000" y="2367756"/>
            <a:ext cx="279400" cy="279400"/>
          </a:xfrm>
          <a:prstGeom prst="rect">
            <a:avLst/>
          </a:prstGeom>
        </p:spPr>
      </p:pic>
      <p:sp>
        <p:nvSpPr>
          <p:cNvPr id="12" name="Text 8"/>
          <p:cNvSpPr/>
          <p:nvPr/>
        </p:nvSpPr>
        <p:spPr>
          <a:xfrm>
            <a:off x="5450840" y="2329656"/>
            <a:ext cx="365760" cy="381000"/>
          </a:xfrm>
          <a:prstGeom prst="rect">
            <a:avLst/>
          </a:prstGeom>
          <a:noFill/>
          <a:ln/>
        </p:spPr>
        <p:txBody>
          <a:bodyPr wrap="square" lIns="0" tIns="0" rIns="0" bIns="0" rtlCol="0" anchor="t">
            <a:normAutofit/>
          </a:bodyPr>
          <a:lstStyle/>
          <a:p>
            <a:pPr algn="r" indent="0" marL="0">
              <a:lnSpc>
                <a:spcPts val="2800"/>
              </a:lnSpc>
              <a:buNone/>
            </a:pPr>
            <a:r>
              <a:rPr lang="en-US" sz="2000" b="1" dirty="0">
                <a:solidFill>
                  <a:srgbClr val="7B61FF"/>
                </a:solidFill>
                <a:latin typeface="JetBrains Mono" pitchFamily="49" charset="0"/>
                <a:ea typeface="JetBrains Mono" pitchFamily="49" charset="-122"/>
                <a:cs typeface="JetBrains Mono" pitchFamily="49" charset="-120"/>
              </a:rPr>
              <a:t>02</a:t>
            </a:r>
            <a:endParaRPr lang="en-US" sz="2000" dirty="0"/>
          </a:p>
        </p:txBody>
      </p:sp>
      <p:sp>
        <p:nvSpPr>
          <p:cNvPr id="13" name="Text 9"/>
          <p:cNvSpPr/>
          <p:nvPr/>
        </p:nvSpPr>
        <p:spPr>
          <a:xfrm>
            <a:off x="3695700" y="2863056"/>
            <a:ext cx="2184527"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6202E"/>
                </a:solidFill>
                <a:latin typeface="Plus Jakarta Sans" pitchFamily="34" charset="0"/>
                <a:ea typeface="Plus Jakarta Sans" pitchFamily="34" charset="-122"/>
                <a:cs typeface="Plus Jakarta Sans" pitchFamily="34" charset="-120"/>
              </a:rPr>
              <a:t>Graduation rate</a:t>
            </a:r>
            <a:endParaRPr lang="en-US" sz="1800" dirty="0"/>
          </a:p>
        </p:txBody>
      </p:sp>
      <p:sp>
        <p:nvSpPr>
          <p:cNvPr id="14" name="Text 10"/>
          <p:cNvSpPr/>
          <p:nvPr/>
        </p:nvSpPr>
        <p:spPr>
          <a:xfrm>
            <a:off x="3695700" y="3216077"/>
            <a:ext cx="2184527"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A5C"/>
                </a:solidFill>
                <a:latin typeface="Plus Jakarta Sans" pitchFamily="34" charset="0"/>
                <a:ea typeface="Plus Jakarta Sans" pitchFamily="34" charset="-122"/>
                <a:cs typeface="Plus Jakarta Sans" pitchFamily="34" charset="-120"/>
              </a:rPr>
              <a:t>The share who finish at that school; low rates raise the risk.</a:t>
            </a:r>
            <a:endParaRPr lang="en-US" sz="1300" dirty="0"/>
          </a:p>
        </p:txBody>
      </p:sp>
      <p:sp>
        <p:nvSpPr>
          <p:cNvPr id="15" name="Shape 11"/>
          <p:cNvSpPr/>
          <p:nvPr/>
        </p:nvSpPr>
        <p:spPr>
          <a:xfrm>
            <a:off x="6172200" y="2050256"/>
            <a:ext cx="2527300" cy="2288977"/>
          </a:xfrm>
          <a:prstGeom prst="roundRect">
            <a:avLst>
              <a:gd name="adj" fmla="val 5548"/>
            </a:avLst>
          </a:prstGeom>
          <a:solidFill>
            <a:srgbClr val="F7F4EE"/>
          </a:solidFill>
          <a:ln/>
        </p:spPr>
      </p:sp>
      <p:sp>
        <p:nvSpPr>
          <p:cNvPr id="16" name="Shape 12"/>
          <p:cNvSpPr/>
          <p:nvPr/>
        </p:nvSpPr>
        <p:spPr>
          <a:xfrm>
            <a:off x="6375400" y="2253456"/>
            <a:ext cx="508000" cy="508000"/>
          </a:xfrm>
          <a:prstGeom prst="roundRect">
            <a:avLst>
              <a:gd name="adj" fmla="val 50000"/>
            </a:avLst>
          </a:prstGeom>
          <a:solidFill>
            <a:srgbClr val="D5F5EC"/>
          </a:solidFill>
          <a:ln/>
        </p:spPr>
      </p:sp>
      <p:pic>
        <p:nvPicPr>
          <p:cNvPr id="17" name="Image 2" descr="icon">    </p:cNvPr>
          <p:cNvPicPr>
            <a:picLocks noChangeAspect="1"/>
          </p:cNvPicPr>
          <p:nvPr/>
        </p:nvPicPr>
        <p:blipFill>
          <a:blip r:embed="rId3"/>
          <a:srcRect l="0" r="0" t="0" b="0"/>
          <a:stretch/>
        </p:blipFill>
        <p:spPr>
          <a:xfrm>
            <a:off x="6489700" y="2367756"/>
            <a:ext cx="279400" cy="279400"/>
          </a:xfrm>
          <a:prstGeom prst="rect">
            <a:avLst/>
          </a:prstGeom>
        </p:spPr>
      </p:pic>
      <p:sp>
        <p:nvSpPr>
          <p:cNvPr id="18" name="Text 13"/>
          <p:cNvSpPr/>
          <p:nvPr/>
        </p:nvSpPr>
        <p:spPr>
          <a:xfrm>
            <a:off x="8130540" y="2329656"/>
            <a:ext cx="365760" cy="381000"/>
          </a:xfrm>
          <a:prstGeom prst="rect">
            <a:avLst/>
          </a:prstGeom>
          <a:noFill/>
          <a:ln/>
        </p:spPr>
        <p:txBody>
          <a:bodyPr wrap="square" lIns="0" tIns="0" rIns="0" bIns="0" rtlCol="0" anchor="t">
            <a:normAutofit/>
          </a:bodyPr>
          <a:lstStyle/>
          <a:p>
            <a:pPr algn="r" indent="0" marL="0">
              <a:lnSpc>
                <a:spcPts val="2800"/>
              </a:lnSpc>
              <a:buNone/>
            </a:pPr>
            <a:r>
              <a:rPr lang="en-US" sz="2000" b="1" dirty="0">
                <a:solidFill>
                  <a:srgbClr val="19C39B"/>
                </a:solidFill>
                <a:latin typeface="JetBrains Mono" pitchFamily="49" charset="0"/>
                <a:ea typeface="JetBrains Mono" pitchFamily="49" charset="-122"/>
                <a:cs typeface="JetBrains Mono" pitchFamily="49" charset="-120"/>
              </a:rPr>
              <a:t>03</a:t>
            </a:r>
            <a:endParaRPr lang="en-US" sz="2000" dirty="0"/>
          </a:p>
        </p:txBody>
      </p:sp>
      <p:sp>
        <p:nvSpPr>
          <p:cNvPr id="19" name="Text 14"/>
          <p:cNvSpPr/>
          <p:nvPr/>
        </p:nvSpPr>
        <p:spPr>
          <a:xfrm>
            <a:off x="6375400" y="2863056"/>
            <a:ext cx="2184527" cy="528241"/>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6202E"/>
                </a:solidFill>
                <a:latin typeface="Plus Jakarta Sans" pitchFamily="34" charset="0"/>
                <a:ea typeface="Plus Jakarta Sans" pitchFamily="34" charset="-122"/>
                <a:cs typeface="Plus Jakarta Sans" pitchFamily="34" charset="-120"/>
              </a:rPr>
              <a:t>Earnings after ten years</a:t>
            </a:r>
            <a:endParaRPr lang="en-US" sz="1800" dirty="0"/>
          </a:p>
        </p:txBody>
      </p:sp>
      <p:sp>
        <p:nvSpPr>
          <p:cNvPr id="20" name="Text 15"/>
          <p:cNvSpPr/>
          <p:nvPr/>
        </p:nvSpPr>
        <p:spPr>
          <a:xfrm>
            <a:off x="6375400" y="3467497"/>
            <a:ext cx="2184527"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A5C"/>
                </a:solidFill>
                <a:latin typeface="Plus Jakarta Sans" pitchFamily="34" charset="0"/>
                <a:ea typeface="Plus Jakarta Sans" pitchFamily="34" charset="-122"/>
                <a:cs typeface="Plus Jakarta Sans" pitchFamily="34" charset="-120"/>
              </a:rPr>
              <a:t>What graduates of that program earn a decade out.</a:t>
            </a:r>
            <a:endParaRPr lang="en-US" sz="1300" dirty="0"/>
          </a:p>
        </p:txBody>
      </p:sp>
      <p:sp>
        <p:nvSpPr>
          <p:cNvPr id="21" name="Shape 16"/>
          <p:cNvSpPr/>
          <p:nvPr/>
        </p:nvSpPr>
        <p:spPr>
          <a:xfrm>
            <a:off x="8851900" y="2050256"/>
            <a:ext cx="2527300" cy="2288977"/>
          </a:xfrm>
          <a:prstGeom prst="roundRect">
            <a:avLst>
              <a:gd name="adj" fmla="val 5548"/>
            </a:avLst>
          </a:prstGeom>
          <a:solidFill>
            <a:srgbClr val="F7F4EE"/>
          </a:solidFill>
          <a:ln/>
        </p:spPr>
      </p:sp>
      <p:sp>
        <p:nvSpPr>
          <p:cNvPr id="22" name="Shape 17"/>
          <p:cNvSpPr/>
          <p:nvPr/>
        </p:nvSpPr>
        <p:spPr>
          <a:xfrm>
            <a:off x="9055100" y="2253456"/>
            <a:ext cx="508000" cy="508000"/>
          </a:xfrm>
          <a:prstGeom prst="roundRect">
            <a:avLst>
              <a:gd name="adj" fmla="val 50000"/>
            </a:avLst>
          </a:prstGeom>
          <a:solidFill>
            <a:srgbClr val="FFF0CC"/>
          </a:solidFill>
          <a:ln/>
        </p:spPr>
      </p:sp>
      <p:pic>
        <p:nvPicPr>
          <p:cNvPr id="23" name="Image 3" descr="icon">    </p:cNvPr>
          <p:cNvPicPr>
            <a:picLocks noChangeAspect="1"/>
          </p:cNvPicPr>
          <p:nvPr/>
        </p:nvPicPr>
        <p:blipFill>
          <a:blip r:embed="rId4"/>
          <a:srcRect l="0" r="0" t="0" b="0"/>
          <a:stretch/>
        </p:blipFill>
        <p:spPr>
          <a:xfrm>
            <a:off x="9169400" y="2367756"/>
            <a:ext cx="279400" cy="279400"/>
          </a:xfrm>
          <a:prstGeom prst="rect">
            <a:avLst/>
          </a:prstGeom>
        </p:spPr>
      </p:pic>
      <p:sp>
        <p:nvSpPr>
          <p:cNvPr id="24" name="Text 18"/>
          <p:cNvSpPr/>
          <p:nvPr/>
        </p:nvSpPr>
        <p:spPr>
          <a:xfrm>
            <a:off x="10810240" y="2329656"/>
            <a:ext cx="365760" cy="381000"/>
          </a:xfrm>
          <a:prstGeom prst="rect">
            <a:avLst/>
          </a:prstGeom>
          <a:noFill/>
          <a:ln/>
        </p:spPr>
        <p:txBody>
          <a:bodyPr wrap="square" lIns="0" tIns="0" rIns="0" bIns="0" rtlCol="0" anchor="t">
            <a:normAutofit/>
          </a:bodyPr>
          <a:lstStyle/>
          <a:p>
            <a:pPr algn="r" indent="0" marL="0">
              <a:lnSpc>
                <a:spcPts val="2800"/>
              </a:lnSpc>
              <a:buNone/>
            </a:pPr>
            <a:r>
              <a:rPr lang="en-US" sz="2000" b="1" dirty="0">
                <a:solidFill>
                  <a:srgbClr val="FFB020"/>
                </a:solidFill>
                <a:latin typeface="JetBrains Mono" pitchFamily="49" charset="0"/>
                <a:ea typeface="JetBrains Mono" pitchFamily="49" charset="-122"/>
                <a:cs typeface="JetBrains Mono" pitchFamily="49" charset="-120"/>
              </a:rPr>
              <a:t>04</a:t>
            </a:r>
            <a:endParaRPr lang="en-US" sz="2000" dirty="0"/>
          </a:p>
        </p:txBody>
      </p:sp>
      <p:sp>
        <p:nvSpPr>
          <p:cNvPr id="25" name="Text 19"/>
          <p:cNvSpPr/>
          <p:nvPr/>
        </p:nvSpPr>
        <p:spPr>
          <a:xfrm>
            <a:off x="9055100" y="2863056"/>
            <a:ext cx="2184527"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6202E"/>
                </a:solidFill>
                <a:latin typeface="Plus Jakarta Sans" pitchFamily="34" charset="0"/>
                <a:ea typeface="Plus Jakarta Sans" pitchFamily="34" charset="-122"/>
                <a:cs typeface="Plus Jakarta Sans" pitchFamily="34" charset="-120"/>
              </a:rPr>
              <a:t>Debt vs. earnings</a:t>
            </a:r>
            <a:endParaRPr lang="en-US" sz="1800" dirty="0"/>
          </a:p>
        </p:txBody>
      </p:sp>
      <p:sp>
        <p:nvSpPr>
          <p:cNvPr id="26" name="Text 20"/>
          <p:cNvSpPr/>
          <p:nvPr/>
        </p:nvSpPr>
        <p:spPr>
          <a:xfrm>
            <a:off x="9055100" y="3216077"/>
            <a:ext cx="2184527"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A5C"/>
                </a:solidFill>
                <a:latin typeface="Plus Jakarta Sans" pitchFamily="34" charset="0"/>
                <a:ea typeface="Plus Jakarta Sans" pitchFamily="34" charset="-122"/>
                <a:cs typeface="Plus Jakarta Sans" pitchFamily="34" charset="-120"/>
              </a:rPr>
              <a:t>Typical borrowing compared with what graduates earn.</a:t>
            </a:r>
            <a:endParaRPr lang="en-US" sz="1300" dirty="0"/>
          </a:p>
        </p:txBody>
      </p:sp>
      <p:sp>
        <p:nvSpPr>
          <p:cNvPr id="27" name="Text 21"/>
          <p:cNvSpPr/>
          <p:nvPr/>
        </p:nvSpPr>
        <p:spPr>
          <a:xfrm>
            <a:off x="812800" y="4644033"/>
            <a:ext cx="10883392" cy="594254"/>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4EE"/>
                </a:solidFill>
                <a:latin typeface="Plus Jakarta Sans" pitchFamily="34" charset="0"/>
                <a:ea typeface="Plus Jakarta Sans" pitchFamily="34" charset="-122"/>
                <a:cs typeface="Plus Jakarta Sans" pitchFamily="34" charset="-120"/>
              </a:rPr>
              <a:t>Next step: look up your shortlist in the U.S. Department of Education’s College Scorecard and line the four numbers up side by side.</a:t>
            </a:r>
            <a:endParaRPr lang="en-US" sz="1600" dirty="0"/>
          </a:p>
        </p:txBody>
      </p:sp>
      <p:sp>
        <p:nvSpPr>
          <p:cNvPr id="28"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D6E0"/>
                </a:solidFill>
                <a:latin typeface="Plus Jakarta Sans" pitchFamily="34" charset="0"/>
                <a:ea typeface="Plus Jakarta Sans" pitchFamily="34" charset="-122"/>
                <a:cs typeface="Plus Jakarta Sans" pitchFamily="34" charset="-120"/>
              </a:rPr>
              <a:t>Sources: BLS; NCES; College Board; Georgetown CEW; NY Fed; U.S. Department of Education College Scorecard</a:t>
            </a:r>
            <a:endParaRPr lang="en-US" sz="1200" dirty="0"/>
          </a:p>
        </p:txBody>
      </p:sp>
      <p:sp>
        <p:nvSpPr>
          <p:cNvPr id="29" name="Slide Number Placehold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theme/theme1.xml><?xml version="1.0" encoding="utf-8"?>
<a:theme xmlns:a="http://schemas.openxmlformats.org/drawingml/2006/main" name="Price vs. Payoff: Three NY-Area Colleges">
  <a:themeElements>
    <a:clrScheme name="Price vs. Payoff: Three NY-Area Colleges">
      <a:dk1>
        <a:srgbClr val="16202E"/>
      </a:dk1>
      <a:lt1>
        <a:srgbClr val="F7F4EE"/>
      </a:lt1>
      <a:dk2>
        <a:srgbClr val="4E555E"/>
      </a:dk2>
      <a:lt2>
        <a:srgbClr val="E1DFDB"/>
      </a:lt2>
      <a:accent1>
        <a:srgbClr val="0F4C5C"/>
      </a:accent1>
      <a:accent2>
        <a:srgbClr val="A9D6E0"/>
      </a:accent2>
      <a:accent3>
        <a:srgbClr val="7B61FF"/>
      </a:accent3>
      <a:accent4>
        <a:srgbClr val="FF6B5B"/>
      </a:accent4>
      <a:accent5>
        <a:srgbClr val="2EA8FF"/>
      </a:accent5>
      <a:accent6>
        <a:srgbClr val="FFB020"/>
      </a:accent6>
      <a:hlink>
        <a:srgbClr val="0563C1"/>
      </a:hlink>
      <a:folHlink>
        <a:srgbClr val="954F72"/>
      </a:folHlink>
    </a:clrScheme>
    <a:fontScheme name="Price vs. Payoff: Three NY-Area Colleges">
      <a:majorFont>
        <a:latin typeface="Plus Jakart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lus Jakarta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Price vs. Payoff: Three NY-Area Colleges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Plus Jakarta Sans
Copyright 2020 The Plus Jakarta Sans Project Authors (https://github.com/tokotype/PlusJakartaSans)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2026-10-25T02:27:25Z</dcterms:created>
  <dcterms:modified xsi:type="dcterms:W3CDTF">2026-10-25T02:27:25Z</dcterms:modified>
</cp:coreProperties>
</file>